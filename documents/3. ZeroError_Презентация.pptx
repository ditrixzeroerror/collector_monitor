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2" r:id="rId2"/>
    <p:sldId id="273" r:id="rId3"/>
    <p:sldId id="263" r:id="rId4"/>
    <p:sldId id="264" r:id="rId5"/>
    <p:sldId id="265" r:id="rId6"/>
    <p:sldId id="266" r:id="rId7"/>
    <p:sldId id="275" r:id="rId8"/>
    <p:sldId id="267" r:id="rId9"/>
    <p:sldId id="304" r:id="rId10"/>
    <p:sldId id="294" r:id="rId11"/>
    <p:sldId id="296" r:id="rId12"/>
    <p:sldId id="297" r:id="rId13"/>
    <p:sldId id="299" r:id="rId14"/>
    <p:sldId id="301" r:id="rId15"/>
    <p:sldId id="300" r:id="rId16"/>
    <p:sldId id="295" r:id="rId17"/>
    <p:sldId id="268" r:id="rId18"/>
    <p:sldId id="305" r:id="rId19"/>
    <p:sldId id="271" r:id="rId20"/>
    <p:sldId id="306" r:id="rId21"/>
    <p:sldId id="269" r:id="rId22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97">
          <p15:clr>
            <a:srgbClr val="A4A3A4"/>
          </p15:clr>
        </p15:guide>
        <p15:guide id="2" pos="3591">
          <p15:clr>
            <a:srgbClr val="A4A3A4"/>
          </p15:clr>
        </p15:guide>
        <p15:guide id="3" pos="5496">
          <p15:clr>
            <a:srgbClr val="A4A3A4"/>
          </p15:clr>
        </p15:guide>
        <p15:guide id="4" pos="4112">
          <p15:clr>
            <a:srgbClr val="A4A3A4"/>
          </p15:clr>
        </p15:guide>
        <p15:guide id="5" pos="393">
          <p15:clr>
            <a:srgbClr val="A4A3A4"/>
          </p15:clr>
        </p15:guide>
        <p15:guide id="6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56" y="96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66098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1006925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25.09.2026</a:t>
            </a:fld>
            <a:endParaRPr lang="ru-RU"/>
          </a:p>
        </p:txBody>
      </p:sp>
      <p:sp>
        <p:nvSpPr>
          <p:cNvPr id="243025857" name="Образ слайда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80859103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1337799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922163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6ACF06-E924-9BBC-BF49-3CA92995779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1E1C96-88D4-B0C0-16FC-669B4CC17FF2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906AE8-181D-46B8-367E-06E9D3D636C1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4715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374501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13954330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439874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1038954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19873618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D4E55D-F867-44E4-47CC-F041153717ED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19F61-7A58-556B-0F85-951DB715D482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A392E-C7DF-10F9-617A-C7B83234DD3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6CAF6-B40D-6A8C-FF45-D78F72728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6DB94-D922-82DC-EE52-4C463559BC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D9BC4-6BBB-8E5B-23C8-3F8FD822F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284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70993-A7B5-AA17-4CAE-A3D5CC725D4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54573-E5D7-57EF-F4A5-3D67A2BD9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98C0F-1745-113B-1502-33071F723E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CCA29-2377-D203-14E4-BAC218A342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6119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FA0B-DEDF-B915-9F61-D083AC634BA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97FC1A-6A51-7B1C-427D-C23BBD127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6C552-46BD-1BB9-4FBD-96EA20039F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19C67-EF60-2E0F-F0AE-0F4C69D5D6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206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BF9C-933A-8624-39F7-6349E21B394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868F9-4B39-524F-1E96-EA7441AC8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E8244-2A04-CAF7-9315-8556E5E7C6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0442B-1340-82F5-6603-8B63AD088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96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DEE95-CDB3-55F9-D82E-4CD4A1A534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CB1D8-7249-2EAC-CB92-BE7CDAD2B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AB3BB-F54E-2200-9C13-F139A4C0D7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A7EB2-3C63-B961-8FA9-24C233B42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D4E55D-F867-44E4-47CC-F041153717ED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707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0730-C36D-565E-FD83-BACFF8A726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DC495-8BE3-8AE0-6375-BF65B9464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F3750-C59D-EE9B-A2E2-8B1FBC80D2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A427D-3D36-22EE-7CD0-A4A8CE253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1A095-BAD8-F2D7-D888-810CE55668A5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6647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8F04-1840-7511-5BCB-D8E7C3A4661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2ACCF-4718-F24C-98C1-A941BC31B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AF17B-ACFA-B273-1C93-55652322ED6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A7ADF-5440-DC2B-9337-98EE6DFB4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41A095-BAD8-F2D7-D888-810CE55668A5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0433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2CD3B-7F7B-18F6-D883-F7AC6DEC9E2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6E3ED-B6BC-9D7D-2746-81B5D3850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2FB8C-B093-8276-315B-FE6002F146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1C595-FADF-9075-D159-C86194CA6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0C836-4C9C-B0B4-BFA8-6BD918BE6671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922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61030F-FAD9-9190-2A68-0761FA53BE2E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97B6-5282-2EC2-B146-97443FE6B66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B6D2D-A071-065C-BABC-F44786ADE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BC631-16A9-72CD-4DDD-BA81AB0269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28A4C-A541-00AF-FE3B-D3DD17CF6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61030F-FAD9-9190-2A68-0761FA53BE2E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1639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D26C3-100A-3CC6-BEA9-945E1E850F60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18D32-8396-0733-6E4B-FFA1A15963A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3F22D-3925-033B-3032-AB6C5BCF1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3ABB5-8B28-1965-C861-79F13F2FF6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7E43-EBCC-3D7F-6C25-15AFB1C076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D26C3-100A-3CC6-BEA9-945E1E850F60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9032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488728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7336516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98054551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21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bg>
      <p:bgPr>
        <a:blipFill rotWithShape="1"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5862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1666659357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81328691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27981913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315361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41077245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7531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25.09.2026</a:t>
            </a:fld>
            <a:endParaRPr lang="ru-RU"/>
          </a:p>
        </p:txBody>
      </p:sp>
      <p:sp>
        <p:nvSpPr>
          <p:cNvPr id="173043019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190453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126175089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2029822214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100254861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723682453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015241146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32198687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35281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25.09.2026</a:t>
            </a:fld>
            <a:endParaRPr lang="ru-RU"/>
          </a:p>
        </p:txBody>
      </p:sp>
      <p:sp>
        <p:nvSpPr>
          <p:cNvPr id="16985120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3980264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739627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1969502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25.09.2026</a:t>
            </a:fld>
            <a:endParaRPr lang="ru-RU"/>
          </a:p>
        </p:txBody>
      </p:sp>
      <p:sp>
        <p:nvSpPr>
          <p:cNvPr id="8229776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7285312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341006836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5506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990758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76137660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25.09.2026</a:t>
            </a:fld>
            <a:endParaRPr lang="ru-RU"/>
          </a:p>
        </p:txBody>
      </p:sp>
      <p:sp>
        <p:nvSpPr>
          <p:cNvPr id="16796124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6068803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677940181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616209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2818223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1944677864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315474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20631718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25.09.2026</a:t>
            </a:fld>
            <a:endParaRPr lang="ru-RU"/>
          </a:p>
        </p:txBody>
      </p:sp>
      <p:sp>
        <p:nvSpPr>
          <p:cNvPr id="1655783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9769785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505437810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2153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25.09.2026</a:t>
            </a:fld>
            <a:endParaRPr lang="ru-RU"/>
          </a:p>
        </p:txBody>
      </p:sp>
      <p:sp>
        <p:nvSpPr>
          <p:cNvPr id="97759777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154681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37414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33394249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0319168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06128423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25.09.2026</a:t>
            </a:fld>
            <a:endParaRPr lang="ru-RU"/>
          </a:p>
        </p:txBody>
      </p:sp>
      <p:sp>
        <p:nvSpPr>
          <p:cNvPr id="83084941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475317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8647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25.09.2026</a:t>
            </a:fld>
            <a:endParaRPr lang="ru-RU"/>
          </a:p>
        </p:txBody>
      </p:sp>
      <p:sp>
        <p:nvSpPr>
          <p:cNvPr id="137551240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978593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69617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124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25.09.2026</a:t>
            </a:fld>
            <a:endParaRPr lang="ru-RU"/>
          </a:p>
        </p:txBody>
      </p:sp>
      <p:sp>
        <p:nvSpPr>
          <p:cNvPr id="14537937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107063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744086038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40248135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43119770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11184346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851971385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16088077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133529934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772112429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792904816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49549357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261376995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706162054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2024400300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1991157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1236891192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483712378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912521978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2125339012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0264795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57895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25.09.2026</a:t>
            </a:fld>
            <a:endParaRPr lang="ru-RU"/>
          </a:p>
        </p:txBody>
      </p:sp>
      <p:sp>
        <p:nvSpPr>
          <p:cNvPr id="18656433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3102899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044193526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11283045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06818221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52254459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89213267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39032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25.09.2026</a:t>
            </a:fld>
            <a:endParaRPr lang="ru-RU"/>
          </a:p>
        </p:txBody>
      </p:sp>
      <p:sp>
        <p:nvSpPr>
          <p:cNvPr id="213537392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96565234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67935141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591293015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27055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1411734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6826677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8036565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712961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25.09.2026</a:t>
            </a:fld>
            <a:endParaRPr lang="ru-RU"/>
          </a:p>
        </p:txBody>
      </p:sp>
      <p:sp>
        <p:nvSpPr>
          <p:cNvPr id="203219503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3903877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72892625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357244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0763840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8016884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2851731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9753264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16470651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1921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25.09.2026</a:t>
            </a:fld>
            <a:endParaRPr lang="ru-RU"/>
          </a:p>
        </p:txBody>
      </p:sp>
      <p:sp>
        <p:nvSpPr>
          <p:cNvPr id="204365995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23154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354482032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8968722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4662787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25807701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45322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21807152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9493239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39703307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22494099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08322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25.09.2026</a:t>
            </a:fld>
            <a:endParaRPr lang="ru-RU"/>
          </a:p>
        </p:txBody>
      </p:sp>
      <p:sp>
        <p:nvSpPr>
          <p:cNvPr id="12456869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8012015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694272616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342580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172842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4927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51591835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809335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311724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01425011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4221569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46861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25.09.2026</a:t>
            </a:fld>
            <a:endParaRPr lang="ru-RU"/>
          </a:p>
        </p:txBody>
      </p:sp>
      <p:sp>
        <p:nvSpPr>
          <p:cNvPr id="102076965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3600385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19491194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02159427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4481902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606138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552840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5589652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355289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11983874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1730100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06040107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6050864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5052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25.09.2026</a:t>
            </a:fld>
            <a:endParaRPr lang="ru-RU"/>
          </a:p>
        </p:txBody>
      </p:sp>
      <p:sp>
        <p:nvSpPr>
          <p:cNvPr id="15428558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5583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739253697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63902546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503476189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367518968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1941152920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829215332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892366354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281534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71327780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25.09.2026</a:t>
            </a:fld>
            <a:endParaRPr lang="ru-RU"/>
          </a:p>
        </p:txBody>
      </p:sp>
      <p:sp>
        <p:nvSpPr>
          <p:cNvPr id="83329623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424526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96158434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4255898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74556612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4501045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19920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25.09.2026</a:t>
            </a:fld>
            <a:endParaRPr lang="ru-RU"/>
          </a:p>
        </p:txBody>
      </p:sp>
      <p:sp>
        <p:nvSpPr>
          <p:cNvPr id="3401716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788506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15007929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771669619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7876599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5940105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907745971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338416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576750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866055062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212980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60210080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118159839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1379077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3437349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14866412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8862912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713680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8440500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9573264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549302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93334983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25.09.2026</a:t>
            </a:fld>
            <a:endParaRPr lang="ru-RU"/>
          </a:p>
        </p:txBody>
      </p:sp>
      <p:sp>
        <p:nvSpPr>
          <p:cNvPr id="2113573064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96471949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2849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3661289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238892797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290458926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028973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25.09.2026</a:t>
            </a:fld>
            <a:endParaRPr lang="ru-RU"/>
          </a:p>
        </p:txBody>
      </p:sp>
      <p:sp>
        <p:nvSpPr>
          <p:cNvPr id="36534190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2794040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  <p:sp>
        <p:nvSpPr>
          <p:cNvPr id="2104047304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19918184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13565402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8285374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826171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79185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4833616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6699326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25.09.2026</a:t>
            </a:fld>
            <a:endParaRPr lang="ru-RU"/>
          </a:p>
        </p:txBody>
      </p:sp>
      <p:sp>
        <p:nvSpPr>
          <p:cNvPr id="178702760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9002106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325847" name="Заголовок 2"/>
          <p:cNvSpPr>
            <a:spLocks noGrp="1"/>
          </p:cNvSpPr>
          <p:nvPr>
            <p:ph type="ctrTitle"/>
          </p:nvPr>
        </p:nvSpPr>
        <p:spPr bwMode="auto">
          <a:xfrm>
            <a:off x="22638" y="3894513"/>
            <a:ext cx="5246321" cy="1706743"/>
          </a:xfrm>
        </p:spPr>
        <p:txBody>
          <a:bodyPr/>
          <a:lstStyle/>
          <a:p>
            <a:pPr marL="268288" indent="0">
              <a:defRPr/>
            </a:pPr>
            <a:r>
              <a:rPr lang="en-US" sz="4800" dirty="0"/>
              <a:t>Zero Error</a:t>
            </a:r>
            <a:endParaRPr lang="ru-RU" sz="4800" dirty="0"/>
          </a:p>
        </p:txBody>
      </p:sp>
      <p:sp>
        <p:nvSpPr>
          <p:cNvPr id="818551681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marL="176213" indent="0">
              <a:defRPr/>
            </a:pPr>
            <a:r>
              <a:rPr lang="en-US" dirty="0"/>
              <a:t>8</a:t>
            </a:r>
            <a:r>
              <a:rPr lang="ru-RU" dirty="0"/>
              <a:t>. Сервис прогнозирования аварий и управления ремонтными работами инженерных коллекторов Москвы</a:t>
            </a:r>
          </a:p>
        </p:txBody>
      </p:sp>
      <p:sp>
        <p:nvSpPr>
          <p:cNvPr id="614838159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2854A8-1D25-5BA0-A90A-AF5A40A6DEF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-4859" t="537" r="-6695" b="277"/>
          <a:stretch>
            <a:fillRect/>
          </a:stretch>
        </p:blipFill>
        <p:spPr bwMode="auto">
          <a:xfrm>
            <a:off x="1025525" y="419100"/>
            <a:ext cx="3386138" cy="1082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052566" name="Скругленный прямоугольник 22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64718805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2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162567224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1615961" y="1320624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О команде</a:t>
            </a:r>
          </a:p>
        </p:txBody>
      </p:sp>
      <p:sp>
        <p:nvSpPr>
          <p:cNvPr id="160453446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1615961" y="1600659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Расскажем о нас</a:t>
            </a:r>
          </a:p>
        </p:txBody>
      </p:sp>
      <p:sp>
        <p:nvSpPr>
          <p:cNvPr id="1565805881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1596604" y="2924609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Почему это важно?</a:t>
            </a:r>
          </a:p>
        </p:txBody>
      </p:sp>
      <p:sp>
        <p:nvSpPr>
          <p:cNvPr id="37846976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1596604" y="3188646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Расскажем о задаче</a:t>
            </a:r>
          </a:p>
        </p:txBody>
      </p:sp>
      <p:sp>
        <p:nvSpPr>
          <p:cNvPr id="1335678584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1596604" y="4508721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Техническая часть</a:t>
            </a:r>
          </a:p>
        </p:txBody>
      </p:sp>
      <p:sp>
        <p:nvSpPr>
          <p:cNvPr id="1257238093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1596604" y="4800071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Расскажем о решении</a:t>
            </a:r>
          </a:p>
        </p:txBody>
      </p:sp>
      <p:sp>
        <p:nvSpPr>
          <p:cNvPr id="1717315561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7289068" y="1320624"/>
            <a:ext cx="3866856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Внедрение</a:t>
            </a:r>
          </a:p>
        </p:txBody>
      </p:sp>
      <p:sp>
        <p:nvSpPr>
          <p:cNvPr id="672588269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7289068" y="1613195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Расскажем как правильно развернуть</a:t>
            </a:r>
          </a:p>
        </p:txBody>
      </p:sp>
      <p:sp>
        <p:nvSpPr>
          <p:cNvPr id="796224995" name="Текст 9"/>
          <p:cNvSpPr>
            <a:spLocks noGrp="1"/>
          </p:cNvSpPr>
          <p:nvPr>
            <p:ph type="body" sz="quarter" idx="45"/>
          </p:nvPr>
        </p:nvSpPr>
        <p:spPr bwMode="auto">
          <a:xfrm>
            <a:off x="7269712" y="2924609"/>
            <a:ext cx="386685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Планы развития</a:t>
            </a:r>
          </a:p>
        </p:txBody>
      </p:sp>
      <p:sp>
        <p:nvSpPr>
          <p:cNvPr id="2114570220" name="Текст 10"/>
          <p:cNvSpPr>
            <a:spLocks noGrp="1"/>
          </p:cNvSpPr>
          <p:nvPr>
            <p:ph type="body" sz="quarter" idx="46"/>
          </p:nvPr>
        </p:nvSpPr>
        <p:spPr bwMode="auto">
          <a:xfrm>
            <a:off x="7289068" y="3232343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Расскажем о будущем</a:t>
            </a:r>
          </a:p>
        </p:txBody>
      </p:sp>
      <p:sp>
        <p:nvSpPr>
          <p:cNvPr id="630792312" name="Текст 11"/>
          <p:cNvSpPr>
            <a:spLocks noGrp="1"/>
          </p:cNvSpPr>
          <p:nvPr>
            <p:ph type="body" sz="quarter" idx="47"/>
          </p:nvPr>
        </p:nvSpPr>
        <p:spPr bwMode="auto">
          <a:xfrm>
            <a:off x="7269712" y="4508721"/>
            <a:ext cx="3866856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Заключение</a:t>
            </a:r>
          </a:p>
        </p:txBody>
      </p:sp>
      <p:sp>
        <p:nvSpPr>
          <p:cNvPr id="467111292" name="Текст 12"/>
          <p:cNvSpPr>
            <a:spLocks noGrp="1"/>
          </p:cNvSpPr>
          <p:nvPr>
            <p:ph type="body" sz="quarter" idx="48"/>
          </p:nvPr>
        </p:nvSpPr>
        <p:spPr bwMode="auto">
          <a:xfrm>
            <a:off x="7269712" y="4812163"/>
            <a:ext cx="3866856" cy="6720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Несколько слов для Заказчика</a:t>
            </a:r>
          </a:p>
        </p:txBody>
      </p:sp>
      <p:sp>
        <p:nvSpPr>
          <p:cNvPr id="39731387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План презентации</a:t>
            </a:r>
          </a:p>
        </p:txBody>
      </p:sp>
      <p:sp>
        <p:nvSpPr>
          <p:cNvPr id="445561416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819212724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501557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69237569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501557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62922763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6194020" y="1394052"/>
            <a:ext cx="771003" cy="423628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04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115026584" name="Текст 18"/>
          <p:cNvSpPr>
            <a:spLocks noGrp="1"/>
          </p:cNvSpPr>
          <p:nvPr>
            <p:ph type="body" sz="quarter" idx="53"/>
          </p:nvPr>
        </p:nvSpPr>
        <p:spPr bwMode="auto">
          <a:xfrm>
            <a:off x="6174664" y="2998036"/>
            <a:ext cx="771003" cy="403756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05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49480666" name="Текст 19"/>
          <p:cNvSpPr>
            <a:spLocks noGrp="1"/>
          </p:cNvSpPr>
          <p:nvPr>
            <p:ph type="body" sz="quarter" idx="54"/>
          </p:nvPr>
        </p:nvSpPr>
        <p:spPr bwMode="auto">
          <a:xfrm>
            <a:off x="6174664" y="4582148"/>
            <a:ext cx="771003" cy="403913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5"/>
                </a:solidFill>
              </a:rPr>
              <a:t>06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316648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D13BF4-CD11-1A96-C688-75570CEFCD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t="391" b="391"/>
          <a:stretch/>
        </p:blipFill>
        <p:spPr bwMode="auto">
          <a:xfrm>
            <a:off x="358347" y="328223"/>
            <a:ext cx="5606473" cy="2580604"/>
          </a:xfrm>
          <a:prstGeom prst="rect">
            <a:avLst/>
          </a:prstGeom>
        </p:spPr>
      </p:pic>
      <p:sp>
        <p:nvSpPr>
          <p:cNvPr id="990522048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804392884" name="Текст 8"/>
          <p:cNvSpPr txBox="1"/>
          <p:nvPr/>
        </p:nvSpPr>
        <p:spPr bwMode="auto">
          <a:xfrm>
            <a:off x="6836606" y="4876070"/>
            <a:ext cx="4945565" cy="148028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Гибкая система с быстрым циклом «гипотеза → эксперимент → вывод».</a:t>
            </a:r>
          </a:p>
          <a:p>
            <a:pPr marL="0" indent="0">
              <a:buNone/>
            </a:pPr>
            <a:r>
              <a:rPr lang="ru-RU" dirty="0">
                <a:solidFill>
                  <a:schemeClr val="tx1"/>
                </a:solidFill>
              </a:rPr>
              <a:t>Самое ценное это видимость подтверждённых и опровергнутых тревог. Их можно увидеть, пересобрать модель, загрузить ее заново и повторить эксперимент.</a:t>
            </a:r>
          </a:p>
        </p:txBody>
      </p:sp>
      <p:sp>
        <p:nvSpPr>
          <p:cNvPr id="1388474132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Капитан: Родин Андрей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4 человека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 dirty="0">
                <a:solidFill>
                  <a:schemeClr val="tx1"/>
                </a:solidFill>
              </a:rPr>
              <a:t>Все работаем в ООО «Дитрикс», решили приложить свои знания для решения задач любимого города</a:t>
            </a:r>
            <a:endParaRPr dirty="0"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0462611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475080332" name="Заголовок 6"/>
          <p:cNvSpPr>
            <a:spLocks noGrp="1"/>
          </p:cNvSpPr>
          <p:nvPr>
            <p:ph type="title"/>
          </p:nvPr>
        </p:nvSpPr>
        <p:spPr bwMode="auto">
          <a:xfrm>
            <a:off x="6833734" y="1548351"/>
            <a:ext cx="3636703" cy="502655"/>
          </a:xfrm>
        </p:spPr>
        <p:txBody>
          <a:bodyPr/>
          <a:lstStyle/>
          <a:p>
            <a:pPr>
              <a:defRPr/>
            </a:pPr>
            <a:r>
              <a:rPr lang="en-US" sz="2400" dirty="0">
                <a:solidFill>
                  <a:schemeClr val="accent5"/>
                </a:solidFill>
                <a:latin typeface="Montserrat"/>
              </a:rPr>
              <a:t>Zero Error</a:t>
            </a:r>
            <a:endParaRPr lang="ru-RU" sz="2400" dirty="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991438723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0974956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5773292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246634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968389862" name="Текст 8"/>
          <p:cNvSpPr txBox="1"/>
          <p:nvPr/>
        </p:nvSpPr>
        <p:spPr bwMode="auto">
          <a:xfrm>
            <a:off x="6808027" y="2619903"/>
            <a:ext cx="4945565" cy="167113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	  Система предиктивной аналитики и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	  прогнозирования пожаров.</a:t>
            </a:r>
          </a:p>
          <a:p>
            <a:pPr marL="0" indent="0">
              <a:buNone/>
              <a:defRPr/>
            </a:pP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Мы сосредоточились на «Пожарном риске» и создали удобный сервис раннего предупреждения на основе уникальной </a:t>
            </a:r>
            <a:r>
              <a:rPr lang="en-US" dirty="0">
                <a:solidFill>
                  <a:schemeClr val="tx1"/>
                </a:solidFill>
              </a:rPr>
              <a:t>ML-</a:t>
            </a:r>
            <a:r>
              <a:rPr lang="ru-RU" dirty="0">
                <a:solidFill>
                  <a:schemeClr val="tx1"/>
                </a:solidFill>
              </a:rPr>
              <a:t>модели с возможностью ее гибкой донастройки.</a:t>
            </a:r>
            <a:endParaRPr dirty="0"/>
          </a:p>
        </p:txBody>
      </p:sp>
      <p:sp>
        <p:nvSpPr>
          <p:cNvPr id="887020886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3</a:t>
            </a:fld>
            <a:endParaRPr lang="ru-RU" sz="1200">
              <a:solidFill>
                <a:schemeClr val="accent5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73AA75-C63B-F0D4-CF99-8113C947D5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40679" y="1940917"/>
            <a:ext cx="884456" cy="88445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E056A-81C5-237F-4079-CAE80A58974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97347" y="2619903"/>
            <a:ext cx="602580" cy="602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532542" name="Скругленный прямоугольник 55"/>
          <p:cNvSpPr/>
          <p:nvPr/>
        </p:nvSpPr>
        <p:spPr bwMode="auto">
          <a:xfrm>
            <a:off x="262844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49122168" name="Текст 8"/>
          <p:cNvSpPr txBox="1"/>
          <p:nvPr/>
        </p:nvSpPr>
        <p:spPr bwMode="auto">
          <a:xfrm>
            <a:off x="2800730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Бизнес-аналитик и любитель поискать недочеты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ООО «Дитрикс»</a:t>
            </a:r>
            <a:endParaRPr lang="ru-RU" sz="1200" dirty="0"/>
          </a:p>
        </p:txBody>
      </p:sp>
      <p:sp>
        <p:nvSpPr>
          <p:cNvPr id="265408750" name="Текст 8"/>
          <p:cNvSpPr txBox="1"/>
          <p:nvPr/>
        </p:nvSpPr>
        <p:spPr bwMode="auto">
          <a:xfrm>
            <a:off x="280072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Сергей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Колот</a:t>
            </a:r>
            <a:endParaRPr dirty="0"/>
          </a:p>
        </p:txBody>
      </p:sp>
      <p:sp>
        <p:nvSpPr>
          <p:cNvPr id="1655143494" name="Скругленный прямоугольник 58"/>
          <p:cNvSpPr/>
          <p:nvPr/>
        </p:nvSpPr>
        <p:spPr bwMode="auto">
          <a:xfrm>
            <a:off x="493376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4874777" name="Текст 8"/>
          <p:cNvSpPr txBox="1"/>
          <p:nvPr/>
        </p:nvSpPr>
        <p:spPr bwMode="auto">
          <a:xfrm>
            <a:off x="510604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«Машина» разработки и поиска решений</a:t>
            </a:r>
          </a:p>
          <a:p>
            <a:pPr>
              <a:spcBef>
                <a:spcPts val="600"/>
              </a:spcBef>
              <a:buFont typeface="Arial"/>
              <a:buChar char="•"/>
              <a:defRPr/>
            </a:pP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ООО «Дитрикс»</a:t>
            </a:r>
            <a:endParaRPr lang="ru-RU" sz="1200" dirty="0"/>
          </a:p>
        </p:txBody>
      </p:sp>
      <p:sp>
        <p:nvSpPr>
          <p:cNvPr id="389659093" name="Текст 8"/>
          <p:cNvSpPr txBox="1"/>
          <p:nvPr/>
        </p:nvSpPr>
        <p:spPr bwMode="auto">
          <a:xfrm>
            <a:off x="510604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Владимир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Снежинский</a:t>
            </a:r>
            <a:endParaRPr dirty="0"/>
          </a:p>
        </p:txBody>
      </p:sp>
      <p:sp>
        <p:nvSpPr>
          <p:cNvPr id="1133465671" name="Скругленный прямоугольник 61"/>
          <p:cNvSpPr/>
          <p:nvPr/>
        </p:nvSpPr>
        <p:spPr bwMode="auto">
          <a:xfrm>
            <a:off x="7239083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83854110" name="Текст 8"/>
          <p:cNvSpPr txBox="1"/>
          <p:nvPr/>
        </p:nvSpPr>
        <p:spPr bwMode="auto">
          <a:xfrm>
            <a:off x="7411367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Мозг обучения моделей и «настройки» ИИ</a:t>
            </a:r>
          </a:p>
          <a:p>
            <a:pPr marL="0" indent="0">
              <a:spcBef>
                <a:spcPts val="600"/>
              </a:spcBef>
              <a:buNone/>
              <a:defRPr/>
            </a:pPr>
            <a:r>
              <a:rPr lang="ru-RU" sz="1200" dirty="0">
                <a:solidFill>
                  <a:schemeClr val="tx1"/>
                </a:solidFill>
              </a:rPr>
              <a:t> </a:t>
            </a:r>
            <a:endParaRPr dirty="0"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ООО «Дитрикс»</a:t>
            </a:r>
            <a:endParaRPr lang="ru-RU" sz="1200" dirty="0"/>
          </a:p>
        </p:txBody>
      </p:sp>
      <p:sp>
        <p:nvSpPr>
          <p:cNvPr id="58831705" name="Текст 8"/>
          <p:cNvSpPr txBox="1"/>
          <p:nvPr/>
        </p:nvSpPr>
        <p:spPr bwMode="auto">
          <a:xfrm>
            <a:off x="74113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Иван Королев</a:t>
            </a:r>
            <a:endParaRPr dirty="0"/>
          </a:p>
        </p:txBody>
      </p:sp>
      <p:sp>
        <p:nvSpPr>
          <p:cNvPr id="153907169" name="Скругленный прямоугольник 16"/>
          <p:cNvSpPr/>
          <p:nvPr/>
        </p:nvSpPr>
        <p:spPr bwMode="auto">
          <a:xfrm>
            <a:off x="323128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47302721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4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2007083848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58449" y="1816054"/>
            <a:ext cx="1722566" cy="1552901"/>
          </a:xfrm>
        </p:spPr>
      </p:sp>
      <p:sp>
        <p:nvSpPr>
          <p:cNvPr id="1555264098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63519" y="1826554"/>
            <a:ext cx="1722566" cy="1542401"/>
          </a:xfrm>
        </p:spPr>
      </p:sp>
      <p:sp>
        <p:nvSpPr>
          <p:cNvPr id="1972631998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68836" y="1809238"/>
            <a:ext cx="1722567" cy="1559717"/>
          </a:xfrm>
        </p:spPr>
      </p:sp>
      <p:sp>
        <p:nvSpPr>
          <p:cNvPr id="980849840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497260" y="1809238"/>
            <a:ext cx="1722567" cy="1559717"/>
          </a:xfrm>
        </p:spPr>
      </p:sp>
      <p:sp>
        <p:nvSpPr>
          <p:cNvPr id="1629569667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95412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 и идейный вдохновитель</a:t>
            </a:r>
          </a:p>
          <a:p>
            <a:pPr marL="0" indent="0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dirty="0"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ООО «Дитрикс»</a:t>
            </a:r>
            <a:endParaRPr dirty="0"/>
          </a:p>
        </p:txBody>
      </p:sp>
      <p:sp>
        <p:nvSpPr>
          <p:cNvPr id="2117636283" name="Текст 8"/>
          <p:cNvSpPr txBox="1"/>
          <p:nvPr/>
        </p:nvSpPr>
        <p:spPr bwMode="auto">
          <a:xfrm>
            <a:off x="495411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Андрей</a:t>
            </a:r>
            <a:br>
              <a:rPr lang="ru-RU" sz="1600" b="1" dirty="0">
                <a:solidFill>
                  <a:schemeClr val="accent5"/>
                </a:solidFill>
              </a:rPr>
            </a:br>
            <a:r>
              <a:rPr lang="ru-RU" sz="1600" b="1" dirty="0">
                <a:solidFill>
                  <a:schemeClr val="accent5"/>
                </a:solidFill>
              </a:rPr>
              <a:t>Родин</a:t>
            </a:r>
            <a:endParaRPr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D9592CA8-95DD-C83F-A0A2-5D4F0D229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169" y="1802557"/>
            <a:ext cx="1575955" cy="1575955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411BF2BC-1790-19D0-C63F-DCE040B13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752" y="1842641"/>
            <a:ext cx="1173015" cy="1508163"/>
          </a:xfrm>
          <a:prstGeom prst="rect">
            <a:avLst/>
          </a:prstGeom>
        </p:spPr>
      </p:pic>
      <p:sp>
        <p:nvSpPr>
          <p:cNvPr id="8" name="Скругленный прямоугольник 1">
            <a:extLst>
              <a:ext uri="{FF2B5EF4-FFF2-40B4-BE49-F238E27FC236}">
                <a16:creationId xmlns:a16="http://schemas.microsoft.com/office/drawing/2014/main" id="{8B0D6588-5505-E3DD-6C1C-34A28AA91809}"/>
              </a:ext>
            </a:extLst>
          </p:cNvPr>
          <p:cNvSpPr/>
          <p:nvPr/>
        </p:nvSpPr>
        <p:spPr bwMode="auto">
          <a:xfrm>
            <a:off x="310317" y="324562"/>
            <a:ext cx="18429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" name="Заголовок 6">
            <a:extLst>
              <a:ext uri="{FF2B5EF4-FFF2-40B4-BE49-F238E27FC236}">
                <a16:creationId xmlns:a16="http://schemas.microsoft.com/office/drawing/2014/main" id="{8A5A434D-1FEF-2734-C827-A5578F89C50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72092" y="449787"/>
            <a:ext cx="2870876" cy="37613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Montserrat"/>
              </a:rPr>
              <a:t>Zero Error</a:t>
            </a:r>
            <a:endParaRPr lang="ru-RU" dirty="0">
              <a:latin typeface="Montserrat"/>
            </a:endParaRPr>
          </a:p>
        </p:txBody>
      </p:sp>
      <p:pic>
        <p:nvPicPr>
          <p:cNvPr id="6" name="Рисунок 5" descr="Picture background">
            <a:extLst>
              <a:ext uri="{FF2B5EF4-FFF2-40B4-BE49-F238E27FC236}">
                <a16:creationId xmlns:a16="http://schemas.microsoft.com/office/drawing/2014/main" id="{4710BBF8-2724-152B-D868-5B71D59D6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0353" y="1827710"/>
            <a:ext cx="1541566" cy="1541566"/>
          </a:xfrm>
          <a:prstGeom prst="rect">
            <a:avLst/>
          </a:prstGeom>
        </p:spPr>
      </p:pic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7FD2F053-00A8-B26E-9AE0-5D221D4457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076" y="1814645"/>
            <a:ext cx="1548194" cy="1548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904205" name="Скругленный прямоугольник 1"/>
          <p:cNvSpPr/>
          <p:nvPr/>
        </p:nvSpPr>
        <p:spPr bwMode="auto">
          <a:xfrm>
            <a:off x="1509851" y="324562"/>
            <a:ext cx="184294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909733747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40368472" name="Заголовок 6"/>
          <p:cNvSpPr>
            <a:spLocks noGrp="1"/>
          </p:cNvSpPr>
          <p:nvPr>
            <p:ph type="title"/>
          </p:nvPr>
        </p:nvSpPr>
        <p:spPr bwMode="auto">
          <a:xfrm>
            <a:off x="1671626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Montserrat"/>
              </a:rPr>
              <a:t>Zero Error</a:t>
            </a:r>
            <a:endParaRPr lang="ru-RU" dirty="0">
              <a:latin typeface="Montserrat"/>
            </a:endParaRPr>
          </a:p>
        </p:txBody>
      </p:sp>
      <p:sp>
        <p:nvSpPr>
          <p:cNvPr id="1476132921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6" y="1602274"/>
            <a:ext cx="10688575" cy="97882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Команда много лет работает слаженным коллективом. Разработали свои решения, многие из которых в реестре российского ПО и активно используются крупным бизнесом. Мы открыты ко всему новому. А хакатон для нас </a:t>
            </a:r>
            <a:r>
              <a:rPr lang="en-US" dirty="0">
                <a:solidFill>
                  <a:schemeClr val="tx1"/>
                </a:solidFill>
              </a:rPr>
              <a:t>- </a:t>
            </a:r>
            <a:r>
              <a:rPr lang="ru-RU" dirty="0">
                <a:solidFill>
                  <a:schemeClr val="tx1"/>
                </a:solidFill>
              </a:rPr>
              <a:t>новый (первый) опыт.  Хотим попробовать применить свои знания и опыт на благо родного города и посмотреть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ru-RU" dirty="0">
                <a:solidFill>
                  <a:schemeClr val="tx1"/>
                </a:solidFill>
              </a:rPr>
              <a:t> что из этого получится.</a:t>
            </a:r>
            <a:endParaRPr dirty="0"/>
          </a:p>
        </p:txBody>
      </p:sp>
      <p:sp>
        <p:nvSpPr>
          <p:cNvPr id="1722142058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25812123" name="Текст 8"/>
          <p:cNvSpPr txBox="1"/>
          <p:nvPr/>
        </p:nvSpPr>
        <p:spPr bwMode="auto">
          <a:xfrm>
            <a:off x="533607" y="5139255"/>
            <a:ext cx="10688574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Основная сложность – это катастрофическая нехватка времени! С ним у нас не густо, т.к. вся команда много работает и для хакатона приходилось работать только по ночам и выходным.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Второй важный момент – это объем исторических данных, журналов, датчиков – пришлось реализовывать потоковую обработку данных, чтобы обработать предложенные объемы.</a:t>
            </a:r>
            <a:endParaRPr dirty="0"/>
          </a:p>
        </p:txBody>
      </p:sp>
      <p:sp>
        <p:nvSpPr>
          <p:cNvPr id="18687783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961410626" name="Текст 8"/>
          <p:cNvSpPr txBox="1"/>
          <p:nvPr/>
        </p:nvSpPr>
        <p:spPr bwMode="auto">
          <a:xfrm>
            <a:off x="533607" y="3429000"/>
            <a:ext cx="1087990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dirty="0">
                <a:solidFill>
                  <a:schemeClr val="tx1"/>
                </a:solidFill>
              </a:rPr>
              <a:t>Задача создания сервиса прогнозирования аварий и управления ремонтными работами инженерных коллекторов Москвы интересна, прежде всего, невидимой связью с одним из созданных нами ранее программных продуктов и хорошо ложится в его канву, продукт при этом мы не использовали для решения этой задачи (существенно упрощенную версию создали «с нуля»).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22157199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882155615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7080105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2572317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83839272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602696293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407206984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2DD86F-9F42-14CD-D6BC-A53F541606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08" y="228785"/>
            <a:ext cx="884456" cy="884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65839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5326116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45361114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86309876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6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68541224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1400" u="sng" dirty="0">
                <a:solidFill>
                  <a:schemeClr val="tx1"/>
                </a:solidFill>
              </a:rPr>
              <a:t>Для хакатона</a:t>
            </a:r>
            <a:r>
              <a:rPr lang="ru-RU" sz="1400" dirty="0">
                <a:solidFill>
                  <a:schemeClr val="tx1"/>
                </a:solidFill>
              </a:rPr>
              <a:t>:</a:t>
            </a:r>
          </a:p>
          <a:p>
            <a:pPr lvl="0"/>
            <a:r>
              <a:rPr lang="ru-RU" sz="1400" dirty="0">
                <a:solidFill>
                  <a:schemeClr val="tx1"/>
                </a:solidFill>
              </a:rPr>
              <a:t>Прототип </a:t>
            </a:r>
            <a:r>
              <a:rPr lang="en-US" sz="1400" dirty="0">
                <a:solidFill>
                  <a:schemeClr val="tx1"/>
                </a:solidFill>
              </a:rPr>
              <a:t>MVP </a:t>
            </a:r>
            <a:r>
              <a:rPr lang="ru-RU" sz="1400" dirty="0">
                <a:solidFill>
                  <a:schemeClr val="tx1"/>
                </a:solidFill>
              </a:rPr>
              <a:t>реализован на </a:t>
            </a:r>
            <a:r>
              <a:rPr lang="ru-RU" sz="1400" b="1" dirty="0">
                <a:solidFill>
                  <a:schemeClr val="tx1"/>
                </a:solidFill>
              </a:rPr>
              <a:t>Python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ru-RU" sz="1400" dirty="0">
                <a:solidFill>
                  <a:schemeClr val="tx1"/>
                </a:solidFill>
              </a:rPr>
              <a:t>Анализ данных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ru-RU" sz="1400" dirty="0">
                <a:solidFill>
                  <a:schemeClr val="tx1"/>
                </a:solidFill>
              </a:rPr>
              <a:t>Создание </a:t>
            </a:r>
            <a:r>
              <a:rPr lang="en-US" sz="1400" dirty="0">
                <a:solidFill>
                  <a:schemeClr val="tx1"/>
                </a:solidFill>
              </a:rPr>
              <a:t>ML-</a:t>
            </a:r>
            <a:r>
              <a:rPr lang="ru-RU" sz="1400" dirty="0">
                <a:solidFill>
                  <a:schemeClr val="tx1"/>
                </a:solidFill>
              </a:rPr>
              <a:t>модели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Веб-приложение – </a:t>
            </a:r>
            <a:r>
              <a:rPr lang="ru-RU" sz="1400" b="1" dirty="0">
                <a:solidFill>
                  <a:schemeClr val="tx1"/>
                </a:solidFill>
              </a:rPr>
              <a:t>Python</a:t>
            </a:r>
            <a:r>
              <a:rPr lang="ru-RU" sz="1400" dirty="0">
                <a:solidFill>
                  <a:schemeClr val="tx1"/>
                </a:solidFill>
              </a:rPr>
              <a:t>. </a:t>
            </a:r>
          </a:p>
          <a:p>
            <a:r>
              <a:rPr lang="ru-RU" sz="1400" dirty="0">
                <a:solidFill>
                  <a:schemeClr val="tx1"/>
                </a:solidFill>
              </a:rPr>
              <a:t>СУБД - </a:t>
            </a:r>
            <a:r>
              <a:rPr lang="ru-RU" sz="1400" b="1" dirty="0" err="1">
                <a:solidFill>
                  <a:schemeClr val="tx1"/>
                </a:solidFill>
              </a:rPr>
              <a:t>SQLite</a:t>
            </a:r>
            <a:r>
              <a:rPr lang="ru-RU" sz="1400" b="1" dirty="0">
                <a:solidFill>
                  <a:schemeClr val="tx1"/>
                </a:solidFill>
              </a:rPr>
              <a:t> (встроенная)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Карты -  </a:t>
            </a:r>
            <a:r>
              <a:rPr lang="ru-RU" sz="1400" b="1" dirty="0" err="1">
                <a:solidFill>
                  <a:schemeClr val="tx1"/>
                </a:solidFill>
              </a:rPr>
              <a:t>OpenStreetMap</a:t>
            </a:r>
            <a:r>
              <a:rPr lang="ru-RU" sz="1400" b="1" dirty="0">
                <a:solidFill>
                  <a:schemeClr val="tx1"/>
                </a:solidFill>
              </a:rPr>
              <a:t> (OSM)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Для </a:t>
            </a:r>
            <a:r>
              <a:rPr lang="ru-RU" sz="1400" u="sng" dirty="0">
                <a:solidFill>
                  <a:schemeClr val="tx1"/>
                </a:solidFill>
              </a:rPr>
              <a:t>промышленного решения</a:t>
            </a:r>
            <a:r>
              <a:rPr lang="ru-RU" sz="1400" dirty="0">
                <a:solidFill>
                  <a:schemeClr val="tx1"/>
                </a:solidFill>
              </a:rPr>
              <a:t> использовали бы другие компоненты (подробнее расскажем далее).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278811569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400" b="1" dirty="0">
                <a:solidFill>
                  <a:schemeClr val="tx1"/>
                </a:solidFill>
              </a:rPr>
              <a:t>Fire Forecast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Гибкая система предиктивной аналитики и прогнозирования пожаров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Не констатация факта, а предсказание риска!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Можно изменять </a:t>
            </a:r>
            <a:r>
              <a:rPr lang="en-US" sz="1400" dirty="0">
                <a:solidFill>
                  <a:schemeClr val="tx1"/>
                </a:solidFill>
              </a:rPr>
              <a:t>ML-</a:t>
            </a:r>
            <a:r>
              <a:rPr lang="ru-RU" sz="1400" dirty="0">
                <a:solidFill>
                  <a:schemeClr val="tx1"/>
                </a:solidFill>
              </a:rPr>
              <a:t>модель на основе свежих данных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Есть возможность эмуляции на основе исторических данных!</a:t>
            </a:r>
          </a:p>
          <a:p>
            <a:pPr>
              <a:defRPr/>
            </a:pPr>
            <a:r>
              <a:rPr lang="ru-RU" sz="1400" dirty="0">
                <a:solidFill>
                  <a:schemeClr val="tx1"/>
                </a:solidFill>
              </a:rPr>
              <a:t>Может быть применимо в разных структурах крупного бизнеса, где есть диспетчерская и потребность прогноза критических ситуаций</a:t>
            </a:r>
          </a:p>
          <a:p>
            <a:pPr marL="0" indent="0"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22157821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1309204615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dirty="0"/>
          </a:p>
        </p:txBody>
      </p:sp>
      <p:sp>
        <p:nvSpPr>
          <p:cNvPr id="897199499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4"/>
            <a:ext cx="5214724" cy="365126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20154" name="Скругленный прямоугольник 1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34612900" name="Скругленный прямоугольник 16"/>
          <p:cNvSpPr/>
          <p:nvPr/>
        </p:nvSpPr>
        <p:spPr bwMode="auto"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85514267" name="Скругленный прямоугольник 17"/>
          <p:cNvSpPr/>
          <p:nvPr/>
        </p:nvSpPr>
        <p:spPr bwMode="auto"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0906351" name="Скругленный прямоугольник 18"/>
          <p:cNvSpPr/>
          <p:nvPr/>
        </p:nvSpPr>
        <p:spPr bwMode="auto"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428415405" name="Скругленный прямоугольник 22"/>
          <p:cNvSpPr/>
          <p:nvPr/>
        </p:nvSpPr>
        <p:spPr bwMode="auto"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299990874" name="Скругленный прямоугольник 23"/>
          <p:cNvSpPr/>
          <p:nvPr/>
        </p:nvSpPr>
        <p:spPr bwMode="auto"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533005763" name="Скругленный прямоугольник 14"/>
          <p:cNvSpPr/>
          <p:nvPr/>
        </p:nvSpPr>
        <p:spPr bwMode="auto">
          <a:xfrm>
            <a:off x="346076" y="1366423"/>
            <a:ext cx="5389562" cy="4834351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tx1"/>
              </a:solidFill>
            </a:endParaRPr>
          </a:p>
        </p:txBody>
      </p:sp>
      <p:sp>
        <p:nvSpPr>
          <p:cNvPr id="1372729656" name="Текст 4"/>
          <p:cNvSpPr>
            <a:spLocks noGrp="1"/>
          </p:cNvSpPr>
          <p:nvPr>
            <p:ph type="body" sz="quarter" idx="15"/>
          </p:nvPr>
        </p:nvSpPr>
        <p:spPr bwMode="auto">
          <a:xfrm>
            <a:off x="6172730" y="1445505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 lvl="0"/>
            <a:r>
              <a:rPr lang="ru-RU" b="1" dirty="0">
                <a:solidFill>
                  <a:schemeClr val="tx1"/>
                </a:solidFill>
              </a:rPr>
              <a:t>Высокая плотность коммуникаций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 коллекторах проложены кабельные линии высокого напряжения, связь и водоводы и пр.</a:t>
            </a:r>
            <a:endParaRPr lang="ru-RU" b="1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55485789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6172730" y="247287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Сложность доступа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 случае возгорания доступ пожарных расчетов крайне затруднен (дым, высокая температура, узкие проходы).</a:t>
            </a:r>
          </a:p>
        </p:txBody>
      </p:sp>
      <p:sp>
        <p:nvSpPr>
          <p:cNvPr id="546458641" name="Текст 6"/>
          <p:cNvSpPr>
            <a:spLocks noGrp="1"/>
          </p:cNvSpPr>
          <p:nvPr>
            <p:ph type="body" sz="quarter" idx="17"/>
          </p:nvPr>
        </p:nvSpPr>
        <p:spPr bwMode="auto">
          <a:xfrm>
            <a:off x="6172730" y="3485922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Каскадный эффект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Один пожар может обесточить целые районы и вывести из строя городскую инфраструктуру.</a:t>
            </a:r>
          </a:p>
        </p:txBody>
      </p:sp>
      <p:sp>
        <p:nvSpPr>
          <p:cNvPr id="687902443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6172730" y="4496593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Сегодня реагируем по факту, а нужно предупреждать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Существующие системы реагируют только после появления открытого пламени или сильного задымления.</a:t>
            </a:r>
          </a:p>
        </p:txBody>
      </p:sp>
      <p:sp>
        <p:nvSpPr>
          <p:cNvPr id="1257125460" name="Текст 8"/>
          <p:cNvSpPr>
            <a:spLocks noGrp="1"/>
          </p:cNvSpPr>
          <p:nvPr>
            <p:ph type="body" sz="quarter" idx="19"/>
          </p:nvPr>
        </p:nvSpPr>
        <p:spPr bwMode="auto">
          <a:xfrm>
            <a:off x="6172730" y="5516924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Повышенные расходы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 err="1">
                <a:solidFill>
                  <a:schemeClr val="tx1"/>
                </a:solidFill>
              </a:rPr>
              <a:t>Расходы</a:t>
            </a:r>
            <a:r>
              <a:rPr lang="ru-RU" dirty="0">
                <a:solidFill>
                  <a:schemeClr val="tx1"/>
                </a:solidFill>
              </a:rPr>
              <a:t> на устранение последствий гораздо больше расходов на прогнозирование</a:t>
            </a:r>
            <a:endParaRPr lang="ru-RU" b="1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62026556" name="Номер слайда 9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559931344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Почему это важно?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6365CD-7579-531C-AD39-DD6EFFA4C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83" y="1293341"/>
            <a:ext cx="5610194" cy="4907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217949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8</a:t>
            </a:fld>
            <a:endParaRPr lang="ru-RU"/>
          </a:p>
        </p:txBody>
      </p:sp>
      <p:sp>
        <p:nvSpPr>
          <p:cNvPr id="6" name="Прямоугольник 29">
            <a:extLst>
              <a:ext uri="{FF2B5EF4-FFF2-40B4-BE49-F238E27FC236}">
                <a16:creationId xmlns:a16="http://schemas.microsoft.com/office/drawing/2014/main" id="{729B1E39-2058-91C0-7DAE-84580697BDF0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" name="Объект 28">
            <a:extLst>
              <a:ext uri="{FF2B5EF4-FFF2-40B4-BE49-F238E27FC236}">
                <a16:creationId xmlns:a16="http://schemas.microsoft.com/office/drawing/2014/main" id="{6575A32E-DDA4-8C87-EAA1-21C2B2E2EE23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О решении простым языком</a:t>
            </a:r>
          </a:p>
          <a:p>
            <a:pPr>
              <a:defRPr/>
            </a:pPr>
            <a:endParaRPr lang="ru-RU" dirty="0"/>
          </a:p>
          <a:p>
            <a:r>
              <a:rPr lang="en-US" sz="1400" b="1" dirty="0">
                <a:solidFill>
                  <a:schemeClr val="tx1"/>
                </a:solidFill>
              </a:rPr>
              <a:t>Fire Forecast </a:t>
            </a:r>
            <a:r>
              <a:rPr lang="ru-RU" sz="1400" b="1" dirty="0">
                <a:solidFill>
                  <a:schemeClr val="tx1"/>
                </a:solidFill>
              </a:rPr>
              <a:t>что это?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Программный комплекс для прогнозирования вероятности возгорания.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Как работает?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Не просто констатация факта, а предсказание риска на основе сбора больших данных.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Какая цель?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Переход от реакции «по факту» к превентивному устранению аварий.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Какие технологии?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Нейросети, анализ временных рядов, предиктивная аналитика.</a:t>
            </a:r>
          </a:p>
          <a:p>
            <a:pPr marL="0" indent="0">
              <a:buFont typeface="Arial"/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8" name="Заголовок 27">
            <a:extLst>
              <a:ext uri="{FF2B5EF4-FFF2-40B4-BE49-F238E27FC236}">
                <a16:creationId xmlns:a16="http://schemas.microsoft.com/office/drawing/2014/main" id="{C9708E0C-43C7-FB45-EA3E-A09FBD7BBCAA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3F9E64-9696-D741-FA40-36537F768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915" y="5804858"/>
            <a:ext cx="812178" cy="8121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A8763A0-DA27-4356-B4EB-4EB9168B211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Рисунок 8">
            <a:extLst>
              <a:ext uri="{FF2B5EF4-FFF2-40B4-BE49-F238E27FC236}">
                <a16:creationId xmlns:a16="http://schemas.microsoft.com/office/drawing/2014/main" id="{DF72DF6E-4E3F-207F-91A9-3FB01715CD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1625217949" name="Номер слайда 20">
            <a:extLst>
              <a:ext uri="{FF2B5EF4-FFF2-40B4-BE49-F238E27FC236}">
                <a16:creationId xmlns:a16="http://schemas.microsoft.com/office/drawing/2014/main" id="{01193542-5A2E-7429-CBDE-1287C3508E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9</a:t>
            </a:fld>
            <a:endParaRPr lang="ru-RU"/>
          </a:p>
        </p:txBody>
      </p:sp>
      <p:sp>
        <p:nvSpPr>
          <p:cNvPr id="6" name="Прямоугольник 29">
            <a:extLst>
              <a:ext uri="{FF2B5EF4-FFF2-40B4-BE49-F238E27FC236}">
                <a16:creationId xmlns:a16="http://schemas.microsoft.com/office/drawing/2014/main" id="{1B10C304-C161-A34C-6DCD-4144E630D75D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" name="Объект 28">
            <a:extLst>
              <a:ext uri="{FF2B5EF4-FFF2-40B4-BE49-F238E27FC236}">
                <a16:creationId xmlns:a16="http://schemas.microsoft.com/office/drawing/2014/main" id="{3CE1B5B3-F830-91A0-695D-C031FA389D89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Подходы при создании решения</a:t>
            </a:r>
          </a:p>
          <a:p>
            <a:pPr>
              <a:defRPr/>
            </a:pPr>
            <a:endParaRPr lang="ru-RU" dirty="0"/>
          </a:p>
          <a:p>
            <a:r>
              <a:rPr lang="en-US" sz="1400" b="1" dirty="0">
                <a:solidFill>
                  <a:schemeClr val="tx1"/>
                </a:solidFill>
              </a:rPr>
              <a:t>ML-</a:t>
            </a:r>
            <a:r>
              <a:rPr lang="ru-RU" sz="1400" b="1" dirty="0">
                <a:solidFill>
                  <a:schemeClr val="tx1"/>
                </a:solidFill>
              </a:rPr>
              <a:t>модель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 err="1">
                <a:solidFill>
                  <a:schemeClr val="tx1"/>
                </a:solidFill>
              </a:rPr>
              <a:t>Модель</a:t>
            </a:r>
            <a:r>
              <a:rPr lang="ru-RU" sz="1400" dirty="0">
                <a:solidFill>
                  <a:schemeClr val="tx1"/>
                </a:solidFill>
              </a:rPr>
              <a:t> должна быть </a:t>
            </a:r>
            <a:r>
              <a:rPr lang="ru-RU" sz="1400" b="1" dirty="0">
                <a:solidFill>
                  <a:schemeClr val="tx1"/>
                </a:solidFill>
              </a:rPr>
              <a:t>простая и эффективная</a:t>
            </a:r>
            <a:r>
              <a:rPr lang="ru-RU" sz="1400" dirty="0">
                <a:solidFill>
                  <a:schemeClr val="tx1"/>
                </a:solidFill>
              </a:rPr>
              <a:t>, способная быстро отрабатывать и </a:t>
            </a:r>
            <a:r>
              <a:rPr lang="ru-RU" sz="1400" b="1" dirty="0">
                <a:solidFill>
                  <a:schemeClr val="tx1"/>
                </a:solidFill>
              </a:rPr>
              <a:t>не использовать </a:t>
            </a:r>
            <a:r>
              <a:rPr lang="ru-RU" sz="1400" dirty="0">
                <a:solidFill>
                  <a:schemeClr val="tx1"/>
                </a:solidFill>
              </a:rPr>
              <a:t>большие вычислительные мощности.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Исторические данные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На выборках 2019-2024 годов отрабатываем </a:t>
            </a:r>
            <a:r>
              <a:rPr lang="en-US" sz="1400" dirty="0">
                <a:solidFill>
                  <a:schemeClr val="tx1"/>
                </a:solidFill>
              </a:rPr>
              <a:t>ML-</a:t>
            </a:r>
            <a:r>
              <a:rPr lang="ru-RU" sz="1400" dirty="0">
                <a:solidFill>
                  <a:schemeClr val="tx1"/>
                </a:solidFill>
              </a:rPr>
              <a:t>модель. На 2025-2026 годах проверяем работу.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Эмуляция</a:t>
            </a:r>
            <a:br>
              <a:rPr lang="ru-RU" sz="1400" b="1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Сделали возможность эмуляции поступления данных с датчиков на основе загружаемых журналов.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Интерфейс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Максимально простой для диспетчера: карта с подсветкой проблемных объектов, датчики, прогноз (ничего лишнего).</a:t>
            </a:r>
          </a:p>
          <a:p>
            <a:pPr marL="0" indent="0">
              <a:buFont typeface="Arial"/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8" name="Заголовок 27">
            <a:extLst>
              <a:ext uri="{FF2B5EF4-FFF2-40B4-BE49-F238E27FC236}">
                <a16:creationId xmlns:a16="http://schemas.microsoft.com/office/drawing/2014/main" id="{26249D58-9103-2C81-0618-8006F0DFFF89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E964FF-1B60-4851-5CE7-FBF2D6AAEA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7915" y="5804858"/>
            <a:ext cx="812178" cy="8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22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83E08A-9B95-47AD-C9CB-163EC9B303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86798" name="Прямоугольник 29">
            <a:extLst>
              <a:ext uri="{FF2B5EF4-FFF2-40B4-BE49-F238E27FC236}">
                <a16:creationId xmlns:a16="http://schemas.microsoft.com/office/drawing/2014/main" id="{E1E6551E-F829-34B8-1B04-EC0669449DC8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5217949" name="Номер слайда 20">
            <a:extLst>
              <a:ext uri="{FF2B5EF4-FFF2-40B4-BE49-F238E27FC236}">
                <a16:creationId xmlns:a16="http://schemas.microsoft.com/office/drawing/2014/main" id="{7198DFF2-6BD0-E463-D5A5-D09576A106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 smtClean="0"/>
              <a:t>10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285127-A883-B4B3-A795-1535E25379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7915" y="5804858"/>
            <a:ext cx="812178" cy="812178"/>
          </a:xfrm>
          <a:prstGeom prst="rect">
            <a:avLst/>
          </a:prstGeom>
        </p:spPr>
      </p:pic>
      <p:sp>
        <p:nvSpPr>
          <p:cNvPr id="17" name="Объект 28">
            <a:extLst>
              <a:ext uri="{FF2B5EF4-FFF2-40B4-BE49-F238E27FC236}">
                <a16:creationId xmlns:a16="http://schemas.microsoft.com/office/drawing/2014/main" id="{84516BB7-CE88-DDD8-66EC-AB1E41A0246F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Архитектура и источники данных</a:t>
            </a:r>
          </a:p>
          <a:p>
            <a:pPr>
              <a:defRPr/>
            </a:pPr>
            <a:endParaRPr lang="ru-RU" dirty="0"/>
          </a:p>
          <a:p>
            <a:r>
              <a:rPr lang="ru-RU" sz="1400" b="1" dirty="0">
                <a:solidFill>
                  <a:schemeClr val="tx1"/>
                </a:solidFill>
              </a:rPr>
              <a:t>Датчики </a:t>
            </a:r>
            <a:r>
              <a:rPr lang="ru-RU" sz="1400" b="1" dirty="0" err="1">
                <a:solidFill>
                  <a:schemeClr val="tx1"/>
                </a:solidFill>
              </a:rPr>
              <a:t>IoT</a:t>
            </a:r>
            <a:r>
              <a:rPr lang="ru-RU" sz="1400" b="1" dirty="0">
                <a:solidFill>
                  <a:schemeClr val="tx1"/>
                </a:solidFill>
              </a:rPr>
              <a:t> (Телеметрия)</a:t>
            </a:r>
            <a:r>
              <a:rPr lang="ru-RU" sz="14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Движения.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Температуры.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Дыма и т.д.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Внешние данные</a:t>
            </a:r>
            <a:r>
              <a:rPr lang="ru-RU" sz="14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Метеоданные.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График ремонтных работ и отключений.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Исторические данные</a:t>
            </a:r>
            <a:r>
              <a:rPr lang="ru-RU" sz="14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ru-RU" sz="1400" dirty="0">
                <a:solidFill>
                  <a:schemeClr val="tx1"/>
                </a:solidFill>
              </a:rPr>
              <a:t>Архив показаний датчиков с 2019 года (включительно).</a:t>
            </a:r>
          </a:p>
        </p:txBody>
      </p:sp>
      <p:sp>
        <p:nvSpPr>
          <p:cNvPr id="19" name="Заголовок 27">
            <a:extLst>
              <a:ext uri="{FF2B5EF4-FFF2-40B4-BE49-F238E27FC236}">
                <a16:creationId xmlns:a16="http://schemas.microsoft.com/office/drawing/2014/main" id="{E8ADCFA7-619E-6755-5D24-531A99124445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</p:spTree>
    <p:extLst>
      <p:ext uri="{BB962C8B-B14F-4D97-AF65-F5344CB8AC3E}">
        <p14:creationId xmlns:p14="http://schemas.microsoft.com/office/powerpoint/2010/main" val="38948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21B2133-7766-2C83-686E-30297DEA89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86798" name="Прямоугольник 29">
            <a:extLst>
              <a:ext uri="{FF2B5EF4-FFF2-40B4-BE49-F238E27FC236}">
                <a16:creationId xmlns:a16="http://schemas.microsoft.com/office/drawing/2014/main" id="{77A594B1-DD79-8BC7-5EA6-651CBDC7844E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5217949" name="Номер слайда 20">
            <a:extLst>
              <a:ext uri="{FF2B5EF4-FFF2-40B4-BE49-F238E27FC236}">
                <a16:creationId xmlns:a16="http://schemas.microsoft.com/office/drawing/2014/main" id="{E37FD449-64C2-0606-3A0D-C602CB4EED9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11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0FF55F-2F89-5970-2A40-4B597BFBF9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7915" y="5804858"/>
            <a:ext cx="812178" cy="812178"/>
          </a:xfrm>
          <a:prstGeom prst="rect">
            <a:avLst/>
          </a:prstGeom>
        </p:spPr>
      </p:pic>
      <p:sp>
        <p:nvSpPr>
          <p:cNvPr id="12" name="Объект 28">
            <a:extLst>
              <a:ext uri="{FF2B5EF4-FFF2-40B4-BE49-F238E27FC236}">
                <a16:creationId xmlns:a16="http://schemas.microsoft.com/office/drawing/2014/main" id="{30ED1BFB-FF19-6311-8AD5-F7C5202FA8BA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Основные возможности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b="1" dirty="0">
                <a:solidFill>
                  <a:schemeClr val="tx1"/>
                </a:solidFill>
              </a:rPr>
              <a:t>Карта рисков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Интерактивная карта объектов наблюдения с цветовой индикацией опасных зон.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Прогноз на 24 часа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Оценка вероятности возгорания в конкретном секторе.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Умные уведомления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Оповещение диспетчера с указанием причины повышенного риска (перегрев кабеля, скопление газа и пр.).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Интеграция (могло бы быть! Но пока нет…)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Связь с системами вентиляции и автоматического пожаротушения.</a:t>
            </a:r>
          </a:p>
          <a:p>
            <a:pPr marL="0" indent="0">
              <a:buFont typeface="Arial"/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27">
            <a:extLst>
              <a:ext uri="{FF2B5EF4-FFF2-40B4-BE49-F238E27FC236}">
                <a16:creationId xmlns:a16="http://schemas.microsoft.com/office/drawing/2014/main" id="{26FBA27F-8C19-D700-DC09-FA5FF740A058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</p:spTree>
    <p:extLst>
      <p:ext uri="{BB962C8B-B14F-4D97-AF65-F5344CB8AC3E}">
        <p14:creationId xmlns:p14="http://schemas.microsoft.com/office/powerpoint/2010/main" val="47899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5804D43-8864-8D46-18D8-DE9F9FC3C44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86798" name="Прямоугольник 29">
            <a:extLst>
              <a:ext uri="{FF2B5EF4-FFF2-40B4-BE49-F238E27FC236}">
                <a16:creationId xmlns:a16="http://schemas.microsoft.com/office/drawing/2014/main" id="{41FB4F69-A40B-F381-363A-41C91A95801C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5217949" name="Номер слайда 20">
            <a:extLst>
              <a:ext uri="{FF2B5EF4-FFF2-40B4-BE49-F238E27FC236}">
                <a16:creationId xmlns:a16="http://schemas.microsoft.com/office/drawing/2014/main" id="{CC690A3E-5FBA-A906-0E22-5A57FF8C78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12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6896B6-6DA4-20DE-1DE8-51E5F69425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7915" y="5804858"/>
            <a:ext cx="812178" cy="812178"/>
          </a:xfrm>
          <a:prstGeom prst="rect">
            <a:avLst/>
          </a:prstGeom>
        </p:spPr>
      </p:pic>
      <p:sp>
        <p:nvSpPr>
          <p:cNvPr id="10" name="Объект 28">
            <a:extLst>
              <a:ext uri="{FF2B5EF4-FFF2-40B4-BE49-F238E27FC236}">
                <a16:creationId xmlns:a16="http://schemas.microsoft.com/office/drawing/2014/main" id="{BCF84C5D-1961-6A9C-2ED2-708CCC3C00E2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>
                <a:solidFill>
                  <a:schemeClr val="tx1"/>
                </a:solidFill>
              </a:rPr>
              <a:t>Экономический и социальный эффект</a:t>
            </a:r>
          </a:p>
          <a:p>
            <a:pPr>
              <a:defRPr/>
            </a:pPr>
            <a:endParaRPr lang="ru-RU" sz="1400">
              <a:solidFill>
                <a:schemeClr val="tx1"/>
              </a:solidFill>
            </a:endParaRPr>
          </a:p>
          <a:p>
            <a:r>
              <a:rPr lang="ru-RU" sz="1400" b="1">
                <a:solidFill>
                  <a:schemeClr val="tx1"/>
                </a:solidFill>
              </a:rPr>
              <a:t>Снижение ущерба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Предотвращение возгораний экономит миллионы рублей на ремонте кабельных сетей.</a:t>
            </a:r>
          </a:p>
          <a:p>
            <a:r>
              <a:rPr lang="ru-RU" sz="1400" b="1">
                <a:solidFill>
                  <a:schemeClr val="tx1"/>
                </a:solidFill>
              </a:rPr>
              <a:t>Безопасность людей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Снижение рисков для жизни рабочих и пожарных.</a:t>
            </a:r>
          </a:p>
          <a:p>
            <a:r>
              <a:rPr lang="ru-RU" sz="1400" b="1">
                <a:solidFill>
                  <a:schemeClr val="tx1"/>
                </a:solidFill>
              </a:rPr>
              <a:t>Энергостабильность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Предотвращение веерных отключений электроэнергии.</a:t>
            </a:r>
          </a:p>
          <a:p>
            <a:r>
              <a:rPr lang="ru-RU" sz="1400" b="1">
                <a:solidFill>
                  <a:schemeClr val="tx1"/>
                </a:solidFill>
              </a:rPr>
              <a:t>Оптимизация ресурсов</a:t>
            </a:r>
            <a:br>
              <a:rPr lang="ru-RU" sz="1400">
                <a:solidFill>
                  <a:schemeClr val="tx1"/>
                </a:solidFill>
              </a:rPr>
            </a:br>
            <a:r>
              <a:rPr lang="ru-RU" sz="1400">
                <a:solidFill>
                  <a:schemeClr val="tx1"/>
                </a:solidFill>
              </a:rPr>
              <a:t>Ремонтные бригады выезжают точно на проблемный участок до аварии.</a:t>
            </a:r>
          </a:p>
          <a:p>
            <a:pPr>
              <a:defRPr/>
            </a:pPr>
            <a:endParaRPr lang="ru-RU" sz="14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2" name="Заголовок 27">
            <a:extLst>
              <a:ext uri="{FF2B5EF4-FFF2-40B4-BE49-F238E27FC236}">
                <a16:creationId xmlns:a16="http://schemas.microsoft.com/office/drawing/2014/main" id="{50A584E1-9378-4C33-1963-11C5FCEFA368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</p:spTree>
    <p:extLst>
      <p:ext uri="{BB962C8B-B14F-4D97-AF65-F5344CB8AC3E}">
        <p14:creationId xmlns:p14="http://schemas.microsoft.com/office/powerpoint/2010/main" val="287486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3E0A34C-B820-0853-509A-23217081F6B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265839" name="Скругленный прямоугольник 9">
            <a:extLst>
              <a:ext uri="{FF2B5EF4-FFF2-40B4-BE49-F238E27FC236}">
                <a16:creationId xmlns:a16="http://schemas.microsoft.com/office/drawing/2014/main" id="{BEB71192-3194-8247-E4CA-0F2548F00613}"/>
              </a:ext>
            </a:extLst>
          </p:cNvPr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5326116" name="Скругленный прямоугольник 23">
            <a:extLst>
              <a:ext uri="{FF2B5EF4-FFF2-40B4-BE49-F238E27FC236}">
                <a16:creationId xmlns:a16="http://schemas.microsoft.com/office/drawing/2014/main" id="{29700E38-BF77-634E-8F8A-7872D0CF5205}"/>
              </a:ext>
            </a:extLst>
          </p:cNvPr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45361114" name="Скругленный прямоугольник 26">
            <a:extLst>
              <a:ext uri="{FF2B5EF4-FFF2-40B4-BE49-F238E27FC236}">
                <a16:creationId xmlns:a16="http://schemas.microsoft.com/office/drawing/2014/main" id="{574BEF18-70D0-192C-91AF-2B0895463B40}"/>
              </a:ext>
            </a:extLst>
          </p:cNvPr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286309876" name="Номер слайда 20">
            <a:extLst>
              <a:ext uri="{FF2B5EF4-FFF2-40B4-BE49-F238E27FC236}">
                <a16:creationId xmlns:a16="http://schemas.microsoft.com/office/drawing/2014/main" id="{05EF4700-E1C0-2071-4EB7-8D2FF1B6B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13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68541224" name="Текст 2">
            <a:extLst>
              <a:ext uri="{FF2B5EF4-FFF2-40B4-BE49-F238E27FC236}">
                <a16:creationId xmlns:a16="http://schemas.microsoft.com/office/drawing/2014/main" id="{A3C9530C-0B57-94F6-2219-E6F6DE6E0FB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 lvl="0"/>
            <a:r>
              <a:rPr lang="ru-RU" sz="1400" dirty="0">
                <a:solidFill>
                  <a:schemeClr val="tx1"/>
                </a:solidFill>
              </a:rPr>
              <a:t>Язык программирования – </a:t>
            </a:r>
            <a:r>
              <a:rPr lang="ru-RU" sz="1400" b="1" dirty="0">
                <a:solidFill>
                  <a:schemeClr val="tx1"/>
                </a:solidFill>
              </a:rPr>
              <a:t>Python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ru-RU" sz="1400" dirty="0">
                <a:solidFill>
                  <a:schemeClr val="tx1"/>
                </a:solidFill>
              </a:rPr>
              <a:t>Анализ данных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ru-RU" sz="1400" dirty="0">
                <a:solidFill>
                  <a:schemeClr val="tx1"/>
                </a:solidFill>
              </a:rPr>
              <a:t>Создание </a:t>
            </a:r>
            <a:r>
              <a:rPr lang="en-US" sz="1400" dirty="0">
                <a:solidFill>
                  <a:schemeClr val="tx1"/>
                </a:solidFill>
              </a:rPr>
              <a:t>ML-</a:t>
            </a:r>
            <a:r>
              <a:rPr lang="ru-RU" sz="1400" dirty="0">
                <a:solidFill>
                  <a:schemeClr val="tx1"/>
                </a:solidFill>
              </a:rPr>
              <a:t>модели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Веб-приложение – </a:t>
            </a:r>
            <a:r>
              <a:rPr lang="ru-RU" sz="1400" b="1" dirty="0">
                <a:solidFill>
                  <a:schemeClr val="tx1"/>
                </a:solidFill>
              </a:rPr>
              <a:t>Python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</a:rPr>
              <a:t>СУБД - </a:t>
            </a:r>
            <a:r>
              <a:rPr lang="ru-RU" sz="1400" b="1" dirty="0" err="1">
                <a:solidFill>
                  <a:schemeClr val="tx1"/>
                </a:solidFill>
              </a:rPr>
              <a:t>SQLite</a:t>
            </a:r>
            <a:r>
              <a:rPr lang="ru-RU" sz="1400" b="1" dirty="0">
                <a:solidFill>
                  <a:schemeClr val="tx1"/>
                </a:solidFill>
              </a:rPr>
              <a:t> (встроенная)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Карты - </a:t>
            </a:r>
            <a:r>
              <a:rPr lang="ru-RU" sz="1400" b="1" dirty="0" err="1">
                <a:solidFill>
                  <a:schemeClr val="tx1"/>
                </a:solidFill>
              </a:rPr>
              <a:t>OpenStreetMap</a:t>
            </a:r>
            <a:r>
              <a:rPr lang="ru-RU" sz="1400" b="1" dirty="0">
                <a:solidFill>
                  <a:schemeClr val="tx1"/>
                </a:solidFill>
              </a:rPr>
              <a:t> (OSM)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Ключевая мысль: простота!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722157821" name="Заголовок 13">
            <a:extLst>
              <a:ext uri="{FF2B5EF4-FFF2-40B4-BE49-F238E27FC236}">
                <a16:creationId xmlns:a16="http://schemas.microsoft.com/office/drawing/2014/main" id="{E068A803-3265-CB64-B07C-5550F1B1CE6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46075" y="456851"/>
            <a:ext cx="10042476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ТЕХНИЧЕСКОЕ РЕШЕНИЕ</a:t>
            </a:r>
            <a:endParaRPr dirty="0"/>
          </a:p>
        </p:txBody>
      </p:sp>
      <p:sp>
        <p:nvSpPr>
          <p:cNvPr id="1309204615" name="Текст 14">
            <a:extLst>
              <a:ext uri="{FF2B5EF4-FFF2-40B4-BE49-F238E27FC236}">
                <a16:creationId xmlns:a16="http://schemas.microsoft.com/office/drawing/2014/main" id="{91865E0C-1B9F-EC62-7486-6C4BA11FE50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В условиях хакатона</a:t>
            </a:r>
            <a:endParaRPr dirty="0"/>
          </a:p>
        </p:txBody>
      </p:sp>
      <p:sp>
        <p:nvSpPr>
          <p:cNvPr id="897199499" name="Текст 16">
            <a:extLst>
              <a:ext uri="{FF2B5EF4-FFF2-40B4-BE49-F238E27FC236}">
                <a16:creationId xmlns:a16="http://schemas.microsoft.com/office/drawing/2014/main" id="{C812AAE3-A5EC-AC23-A8C0-A0FF026AA4B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4"/>
            <a:ext cx="5214724" cy="365126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 dirty="0">
                <a:solidFill>
                  <a:schemeClr val="accent5"/>
                </a:solidFill>
              </a:rPr>
              <a:t>Промышленное решение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98D22885-F996-7596-019C-6FD4339475C2}"/>
              </a:ext>
            </a:extLst>
          </p:cNvPr>
          <p:cNvSpPr txBox="1">
            <a:spLocks/>
          </p:cNvSpPr>
          <p:nvPr/>
        </p:nvSpPr>
        <p:spPr bwMode="auto">
          <a:xfrm>
            <a:off x="6513513" y="1920927"/>
            <a:ext cx="4929861" cy="38685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tx1"/>
                </a:solidFill>
                <a:highlight>
                  <a:srgbClr val="00FF00"/>
                </a:highlight>
              </a:rPr>
              <a:t>Язык программирования – </a:t>
            </a:r>
            <a:r>
              <a:rPr lang="en-US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C# </a:t>
            </a:r>
            <a:r>
              <a:rPr lang="ru-RU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или </a:t>
            </a:r>
            <a:r>
              <a:rPr lang="en-US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Java</a:t>
            </a:r>
            <a:r>
              <a:rPr lang="en-US" sz="1400" dirty="0">
                <a:solidFill>
                  <a:schemeClr val="tx1"/>
                </a:solidFill>
                <a:highlight>
                  <a:srgbClr val="00FF00"/>
                </a:highlight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Анализ данных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Создание </a:t>
            </a:r>
            <a:r>
              <a:rPr lang="en-US" sz="1400" dirty="0">
                <a:solidFill>
                  <a:schemeClr val="tx1"/>
                </a:solidFill>
              </a:rPr>
              <a:t>ML-</a:t>
            </a:r>
            <a:r>
              <a:rPr lang="ru-RU" sz="1400" dirty="0">
                <a:solidFill>
                  <a:schemeClr val="tx1"/>
                </a:solidFill>
              </a:rPr>
              <a:t>модели – </a:t>
            </a:r>
            <a:r>
              <a:rPr lang="en-US" sz="1400" b="1" dirty="0">
                <a:solidFill>
                  <a:schemeClr val="tx1"/>
                </a:solidFill>
              </a:rPr>
              <a:t>Jupiter Notebook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  <a:highlight>
                  <a:srgbClr val="00FF00"/>
                </a:highlight>
              </a:rPr>
              <a:t>Веб-приложение – </a:t>
            </a:r>
            <a:r>
              <a:rPr lang="en-US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C# </a:t>
            </a:r>
            <a:r>
              <a:rPr lang="ru-RU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или </a:t>
            </a:r>
            <a:r>
              <a:rPr lang="en-US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Java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dirty="0">
                <a:solidFill>
                  <a:schemeClr val="tx1"/>
                </a:solidFill>
                <a:highlight>
                  <a:srgbClr val="00FF00"/>
                </a:highlight>
              </a:rPr>
              <a:t>СУБД – </a:t>
            </a:r>
            <a:r>
              <a:rPr lang="en-US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PostgreSQL</a:t>
            </a:r>
            <a:r>
              <a:rPr lang="ru-RU" sz="1400" b="1" dirty="0">
                <a:solidFill>
                  <a:schemeClr val="tx1"/>
                </a:solidFill>
                <a:highlight>
                  <a:srgbClr val="00FF00"/>
                </a:highlight>
              </a:rPr>
              <a:t>/</a:t>
            </a:r>
            <a:r>
              <a:rPr lang="en-US" sz="1400" b="1" dirty="0" err="1">
                <a:solidFill>
                  <a:schemeClr val="tx1"/>
                </a:solidFill>
                <a:highlight>
                  <a:srgbClr val="00FF00"/>
                </a:highlight>
              </a:rPr>
              <a:t>Tantor</a:t>
            </a:r>
            <a:r>
              <a:rPr lang="ru-RU" sz="1400" dirty="0">
                <a:solidFill>
                  <a:schemeClr val="tx1"/>
                </a:solidFill>
                <a:highlight>
                  <a:srgbClr val="00FF00"/>
                </a:highlight>
              </a:rPr>
              <a:t>.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Карты - </a:t>
            </a:r>
            <a:r>
              <a:rPr lang="en-US" sz="1400" b="1" dirty="0">
                <a:solidFill>
                  <a:schemeClr val="tx1"/>
                </a:solidFill>
              </a:rPr>
              <a:t>OpenStreetMap (OSM)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ru-RU" sz="1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Регистрация в реестре российского программного обеспечения.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1400" dirty="0">
                <a:solidFill>
                  <a:schemeClr val="tx1"/>
                </a:solidFill>
              </a:rPr>
              <a:t>Ключевая мысль: выполнение требований законодательства!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917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2BA418-B198-7D58-F096-4D0DD6869B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038454" name="Заголовок 5">
            <a:extLst>
              <a:ext uri="{FF2B5EF4-FFF2-40B4-BE49-F238E27FC236}">
                <a16:creationId xmlns:a16="http://schemas.microsoft.com/office/drawing/2014/main" id="{AB003736-0E18-656B-CCE0-63A54162081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</a:rPr>
              <a:t>Анализ данных</a:t>
            </a:r>
          </a:p>
        </p:txBody>
      </p:sp>
      <p:sp>
        <p:nvSpPr>
          <p:cNvPr id="1043453291" name="Текст 7">
            <a:extLst>
              <a:ext uri="{FF2B5EF4-FFF2-40B4-BE49-F238E27FC236}">
                <a16:creationId xmlns:a16="http://schemas.microsoft.com/office/drawing/2014/main" id="{10B3C940-FAC1-8F72-F8DE-4DE8D78746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auto">
          <a:xfrm>
            <a:off x="521133" y="219378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Миллионы записей, большой объем для анализа. За 2026 год (строк: 30 695 389, объем занятой памяти при считывании: 5Гб).</a:t>
            </a:r>
          </a:p>
        </p:txBody>
      </p:sp>
      <p:sp>
        <p:nvSpPr>
          <p:cNvPr id="1617125613" name="Текст 8">
            <a:extLst>
              <a:ext uri="{FF2B5EF4-FFF2-40B4-BE49-F238E27FC236}">
                <a16:creationId xmlns:a16="http://schemas.microsoft.com/office/drawing/2014/main" id="{9D2E9C9F-5789-41D6-7F43-848BEB841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xfrm>
            <a:off x="521133" y="3050795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Поле «Тревожное» содержит значение </a:t>
            </a:r>
            <a:r>
              <a:rPr lang="en-US" dirty="0">
                <a:solidFill>
                  <a:schemeClr val="bg1"/>
                </a:solidFill>
              </a:rPr>
              <a:t>true </a:t>
            </a:r>
            <a:r>
              <a:rPr lang="ru-RU" dirty="0">
                <a:solidFill>
                  <a:schemeClr val="bg1"/>
                </a:solidFill>
              </a:rPr>
              <a:t>и </a:t>
            </a:r>
            <a:r>
              <a:rPr lang="en-US" dirty="0">
                <a:solidFill>
                  <a:schemeClr val="bg1"/>
                </a:solidFill>
              </a:rPr>
              <a:t>false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78304703" name="Текст 9">
            <a:extLst>
              <a:ext uri="{FF2B5EF4-FFF2-40B4-BE49-F238E27FC236}">
                <a16:creationId xmlns:a16="http://schemas.microsoft.com/office/drawing/2014/main" id="{4EE774BB-9467-4760-8CD2-2CEC48684C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auto">
          <a:xfrm>
            <a:off x="521133" y="3907804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Были проанализированы все записи, которые попадают в поле «Значение»</a:t>
            </a:r>
          </a:p>
        </p:txBody>
      </p:sp>
      <p:sp>
        <p:nvSpPr>
          <p:cNvPr id="1367797629" name="Текст 10">
            <a:extLst>
              <a:ext uri="{FF2B5EF4-FFF2-40B4-BE49-F238E27FC236}">
                <a16:creationId xmlns:a16="http://schemas.microsoft.com/office/drawing/2014/main" id="{2C223A53-7BF0-B7D7-9040-BCB781D5B2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auto">
          <a:xfrm>
            <a:off x="521133" y="4764813"/>
            <a:ext cx="4902200" cy="712587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Данные разных типов датчиков: одни с прямыми признаками пожара, другие с косвенными</a:t>
            </a:r>
          </a:p>
        </p:txBody>
      </p:sp>
      <p:sp>
        <p:nvSpPr>
          <p:cNvPr id="1006960425" name="Номер слайда 20">
            <a:extLst>
              <a:ext uri="{FF2B5EF4-FFF2-40B4-BE49-F238E27FC236}">
                <a16:creationId xmlns:a16="http://schemas.microsoft.com/office/drawing/2014/main" id="{0773F0A8-FA32-BCAE-34EC-3B953427AAA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14</a:t>
            </a:fld>
            <a:endParaRPr lang="ru-RU">
              <a:solidFill>
                <a:schemeClr val="accent5"/>
              </a:solidFill>
            </a:endParaRPr>
          </a:p>
        </p:txBody>
      </p:sp>
      <p:cxnSp>
        <p:nvCxnSpPr>
          <p:cNvPr id="950939513" name="Прямая соединительная линия 1">
            <a:extLst>
              <a:ext uri="{FF2B5EF4-FFF2-40B4-BE49-F238E27FC236}">
                <a16:creationId xmlns:a16="http://schemas.microsoft.com/office/drawing/2014/main" id="{7D9F03A0-AA09-ADF7-0B96-DC00F4E3B44D}"/>
              </a:ext>
            </a:extLst>
          </p:cNvPr>
          <p:cNvCxnSpPr/>
          <p:nvPr/>
        </p:nvCxnSpPr>
        <p:spPr bwMode="auto">
          <a:xfrm>
            <a:off x="521133" y="2103420"/>
            <a:ext cx="11335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84924000" name="Прямая соединительная линия 3">
            <a:extLst>
              <a:ext uri="{FF2B5EF4-FFF2-40B4-BE49-F238E27FC236}">
                <a16:creationId xmlns:a16="http://schemas.microsoft.com/office/drawing/2014/main" id="{2587C298-A270-51A5-9C13-A71CDECC8F4C}"/>
              </a:ext>
            </a:extLst>
          </p:cNvPr>
          <p:cNvCxnSpPr/>
          <p:nvPr/>
        </p:nvCxnSpPr>
        <p:spPr bwMode="auto">
          <a:xfrm>
            <a:off x="521133" y="2964295"/>
            <a:ext cx="11335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34165" name="Прямая соединительная линия 12">
            <a:extLst>
              <a:ext uri="{FF2B5EF4-FFF2-40B4-BE49-F238E27FC236}">
                <a16:creationId xmlns:a16="http://schemas.microsoft.com/office/drawing/2014/main" id="{85422B67-8EB4-ECA3-F0F0-ACDA2A9E8811}"/>
              </a:ext>
            </a:extLst>
          </p:cNvPr>
          <p:cNvCxnSpPr/>
          <p:nvPr/>
        </p:nvCxnSpPr>
        <p:spPr bwMode="auto">
          <a:xfrm>
            <a:off x="521133" y="3841625"/>
            <a:ext cx="11335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09994777" name="Прямая соединительная линия 13">
            <a:extLst>
              <a:ext uri="{FF2B5EF4-FFF2-40B4-BE49-F238E27FC236}">
                <a16:creationId xmlns:a16="http://schemas.microsoft.com/office/drawing/2014/main" id="{439C5956-9D2A-1BDB-C0EB-08B4C263E83F}"/>
              </a:ext>
            </a:extLst>
          </p:cNvPr>
          <p:cNvCxnSpPr/>
          <p:nvPr/>
        </p:nvCxnSpPr>
        <p:spPr bwMode="auto">
          <a:xfrm>
            <a:off x="521133" y="4681885"/>
            <a:ext cx="11335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31835952" name="Прямая соединительная линия 14">
            <a:extLst>
              <a:ext uri="{FF2B5EF4-FFF2-40B4-BE49-F238E27FC236}">
                <a16:creationId xmlns:a16="http://schemas.microsoft.com/office/drawing/2014/main" id="{31721B4D-E96F-F621-9E47-9095D3481AA3}"/>
              </a:ext>
            </a:extLst>
          </p:cNvPr>
          <p:cNvCxnSpPr/>
          <p:nvPr/>
        </p:nvCxnSpPr>
        <p:spPr bwMode="auto">
          <a:xfrm>
            <a:off x="521133" y="5546858"/>
            <a:ext cx="1133590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9FDBD732-A525-DA33-370B-9F34E4EE7400}"/>
              </a:ext>
            </a:extLst>
          </p:cNvPr>
          <p:cNvSpPr/>
          <p:nvPr/>
        </p:nvSpPr>
        <p:spPr bwMode="auto">
          <a:xfrm>
            <a:off x="5515693" y="2355271"/>
            <a:ext cx="672667" cy="369449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0DEADCDF-7BCB-A55F-8178-433E4A89D8C3}"/>
              </a:ext>
            </a:extLst>
          </p:cNvPr>
          <p:cNvSpPr txBox="1">
            <a:spLocks/>
          </p:cNvSpPr>
          <p:nvPr/>
        </p:nvSpPr>
        <p:spPr bwMode="auto">
          <a:xfrm>
            <a:off x="6539275" y="2193784"/>
            <a:ext cx="4902200" cy="7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Мы использовали потоковый анализ данных и свертку.</a:t>
            </a:r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0C6C4A49-0D43-EB92-DEF3-2D58C3C0F8B1}"/>
              </a:ext>
            </a:extLst>
          </p:cNvPr>
          <p:cNvSpPr/>
          <p:nvPr/>
        </p:nvSpPr>
        <p:spPr bwMode="auto">
          <a:xfrm>
            <a:off x="5515693" y="3134555"/>
            <a:ext cx="672667" cy="369449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338E37FD-145D-DC7D-B82C-9EEDDF545925}"/>
              </a:ext>
            </a:extLst>
          </p:cNvPr>
          <p:cNvSpPr txBox="1">
            <a:spLocks/>
          </p:cNvSpPr>
          <p:nvPr/>
        </p:nvSpPr>
        <p:spPr bwMode="auto">
          <a:xfrm>
            <a:off x="6539275" y="2973068"/>
            <a:ext cx="4902200" cy="7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Не подходит в качестве </a:t>
            </a:r>
            <a:r>
              <a:rPr lang="en-US" dirty="0">
                <a:solidFill>
                  <a:schemeClr val="bg1"/>
                </a:solidFill>
              </a:rPr>
              <a:t>TARGET (</a:t>
            </a:r>
            <a:r>
              <a:rPr lang="ru-RU" dirty="0">
                <a:solidFill>
                  <a:schemeClr val="bg1"/>
                </a:solidFill>
              </a:rPr>
              <a:t>пожар). Явление редкое, имеем существенный дисбаланс классов.</a:t>
            </a:r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CA01F633-E6DC-5F59-2557-B7E6791D6876}"/>
              </a:ext>
            </a:extLst>
          </p:cNvPr>
          <p:cNvSpPr/>
          <p:nvPr/>
        </p:nvSpPr>
        <p:spPr bwMode="auto">
          <a:xfrm>
            <a:off x="5515693" y="4081603"/>
            <a:ext cx="672667" cy="369449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32C89D7E-981C-A339-C1CC-14DEE18806F8}"/>
              </a:ext>
            </a:extLst>
          </p:cNvPr>
          <p:cNvSpPr txBox="1">
            <a:spLocks/>
          </p:cNvSpPr>
          <p:nvPr/>
        </p:nvSpPr>
        <p:spPr bwMode="auto">
          <a:xfrm>
            <a:off x="6539275" y="3920116"/>
            <a:ext cx="4902200" cy="7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Сформировали справочник ТИП-ЗНАЧЕНИЕ</a:t>
            </a: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70709487-312F-B1D3-AF79-75865E7FCBCB}"/>
              </a:ext>
            </a:extLst>
          </p:cNvPr>
          <p:cNvSpPr/>
          <p:nvPr/>
        </p:nvSpPr>
        <p:spPr bwMode="auto">
          <a:xfrm>
            <a:off x="5515693" y="4871533"/>
            <a:ext cx="672667" cy="369449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BF8CFA91-6F04-311B-6678-1D3EE8336CB4}"/>
              </a:ext>
            </a:extLst>
          </p:cNvPr>
          <p:cNvSpPr txBox="1">
            <a:spLocks/>
          </p:cNvSpPr>
          <p:nvPr/>
        </p:nvSpPr>
        <p:spPr bwMode="auto">
          <a:xfrm>
            <a:off x="6539275" y="4710046"/>
            <a:ext cx="4902200" cy="712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dirty="0">
                <a:solidFill>
                  <a:schemeClr val="bg1"/>
                </a:solidFill>
              </a:rPr>
              <a:t>Для построения модели выбрали подход «Пожарный риск – это не одна модель/один сигнал, а совокупность сигналов.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56BE1601-6C27-B5D5-E865-6BE4F7C98B43}"/>
              </a:ext>
            </a:extLst>
          </p:cNvPr>
          <p:cNvSpPr txBox="1">
            <a:spLocks/>
          </p:cNvSpPr>
          <p:nvPr/>
        </p:nvSpPr>
        <p:spPr bwMode="auto">
          <a:xfrm>
            <a:off x="521132" y="1263687"/>
            <a:ext cx="11335904" cy="58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</a:rPr>
              <a:t>Этот слайд содержит только выводы! В файле «Исследование данных» можно оценить масштабы проделанной работы!</a:t>
            </a:r>
          </a:p>
        </p:txBody>
      </p:sp>
    </p:spTree>
    <p:extLst>
      <p:ext uri="{BB962C8B-B14F-4D97-AF65-F5344CB8AC3E}">
        <p14:creationId xmlns:p14="http://schemas.microsoft.com/office/powerpoint/2010/main" val="104256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16FA337-FBAB-355A-458F-07B8C7464FD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038454" name="Заголовок 5">
            <a:extLst>
              <a:ext uri="{FF2B5EF4-FFF2-40B4-BE49-F238E27FC236}">
                <a16:creationId xmlns:a16="http://schemas.microsoft.com/office/drawing/2014/main" id="{A8B7B9AE-5842-9C54-D72B-F7A0477C8A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3490" y="370426"/>
            <a:ext cx="5562510" cy="442374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bg1"/>
                </a:solidFill>
              </a:rPr>
              <a:t>Построение модели</a:t>
            </a:r>
          </a:p>
        </p:txBody>
      </p:sp>
      <p:sp>
        <p:nvSpPr>
          <p:cNvPr id="1006960425" name="Номер слайда 20">
            <a:extLst>
              <a:ext uri="{FF2B5EF4-FFF2-40B4-BE49-F238E27FC236}">
                <a16:creationId xmlns:a16="http://schemas.microsoft.com/office/drawing/2014/main" id="{EA60B502-4A78-5B5D-6E57-B73FD34435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441475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15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1FE7DD63-589F-E9E2-888F-E3A12B7B2A05}"/>
              </a:ext>
            </a:extLst>
          </p:cNvPr>
          <p:cNvSpPr txBox="1">
            <a:spLocks/>
          </p:cNvSpPr>
          <p:nvPr/>
        </p:nvSpPr>
        <p:spPr bwMode="auto">
          <a:xfrm>
            <a:off x="521132" y="1263687"/>
            <a:ext cx="11335904" cy="58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578755" rtl="0">
              <a:lnSpc>
                <a:spcPct val="90000"/>
              </a:lnSpc>
              <a:spcBef>
                <a:spcPts val="631"/>
              </a:spcBef>
              <a:buFont typeface="Arial"/>
              <a:buNone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>
                <a:solidFill>
                  <a:schemeClr val="bg1"/>
                </a:solidFill>
              </a:rPr>
              <a:t>Этот слайд содержит только выводы! В файле «Построение модели» можно оценить масштабы проделанной работы!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C6D637F-A266-6975-635A-853689BFA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573434"/>
              </p:ext>
            </p:extLst>
          </p:nvPr>
        </p:nvGraphicFramePr>
        <p:xfrm>
          <a:off x="1634837" y="2650066"/>
          <a:ext cx="8128000" cy="21717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47145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96046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11031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41337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 = Recall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78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Акцент на точность </a:t>
                      </a:r>
                      <a:r>
                        <a:rPr lang="en-US" dirty="0"/>
                        <a:t>(Precision)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578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Акцент на полноту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(</a:t>
                      </a:r>
                      <a:r>
                        <a:rPr lang="en-US" dirty="0"/>
                        <a:t>Recall)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051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Порог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0.0271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0.0885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19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0.6458 (65%)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0.2870 (29%)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0.6713 (67%)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8961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0.2509 (25%)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0.3293 (33%)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 0.2404 (24%)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35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Основная модель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150" b="1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b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(алгоритм машинного обучения на основе градиентного </a:t>
                      </a:r>
                      <a:r>
                        <a:rPr lang="ru-RU" sz="115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бустинга</a:t>
                      </a:r>
                      <a:r>
                        <a:rPr lang="ru-RU" sz="115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над решающими деревьями)</a:t>
                      </a:r>
                      <a:endParaRPr lang="ru-RU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29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271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1CC463-2B31-9387-AD29-4DF416C019D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86798" name="Прямоугольник 29">
            <a:extLst>
              <a:ext uri="{FF2B5EF4-FFF2-40B4-BE49-F238E27FC236}">
                <a16:creationId xmlns:a16="http://schemas.microsoft.com/office/drawing/2014/main" id="{A563C8ED-6FA9-5B4F-D50C-E6AEAE1F02DA}"/>
              </a:ext>
            </a:extLst>
          </p:cNvPr>
          <p:cNvSpPr/>
          <p:nvPr/>
        </p:nvSpPr>
        <p:spPr bwMode="auto"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625217949" name="Номер слайда 20">
            <a:extLst>
              <a:ext uri="{FF2B5EF4-FFF2-40B4-BE49-F238E27FC236}">
                <a16:creationId xmlns:a16="http://schemas.microsoft.com/office/drawing/2014/main" id="{4891BC65-91DB-2C4E-065B-E8986883B4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11633200" y="6356350"/>
            <a:ext cx="558800" cy="365125"/>
          </a:xfrm>
        </p:spPr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16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1D8177A-8C9A-C1E4-7D78-D3E27078CC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7915" y="5804858"/>
            <a:ext cx="812178" cy="812178"/>
          </a:xfrm>
          <a:prstGeom prst="rect">
            <a:avLst/>
          </a:prstGeom>
        </p:spPr>
      </p:pic>
      <p:sp>
        <p:nvSpPr>
          <p:cNvPr id="10" name="Объект 28">
            <a:extLst>
              <a:ext uri="{FF2B5EF4-FFF2-40B4-BE49-F238E27FC236}">
                <a16:creationId xmlns:a16="http://schemas.microsoft.com/office/drawing/2014/main" id="{9AA90885-8347-6510-B66C-FCE828484E65}"/>
              </a:ext>
            </a:extLst>
          </p:cNvPr>
          <p:cNvSpPr txBox="1">
            <a:spLocks/>
          </p:cNvSpPr>
          <p:nvPr/>
        </p:nvSpPr>
        <p:spPr bwMode="auto">
          <a:xfrm>
            <a:off x="521133" y="1263123"/>
            <a:ext cx="5574868" cy="4937652"/>
          </a:xfrm>
          <a:prstGeom prst="rect">
            <a:avLst/>
          </a:prstGeom>
        </p:spPr>
        <p:txBody>
          <a:bodyPr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 b="1" dirty="0">
                <a:solidFill>
                  <a:schemeClr val="tx1"/>
                </a:solidFill>
              </a:rPr>
              <a:t>Как работает ИИ-ядро (алгоритм прогнозирования)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r>
              <a:rPr lang="ru-RU" sz="1400" b="1" dirty="0">
                <a:solidFill>
                  <a:schemeClr val="tx1"/>
                </a:solidFill>
              </a:rPr>
              <a:t>Сбор данных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Онлайн-мониторинг с сотен датчиков.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Предобработка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Очистка шумов, нормализация данных.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ML-Модель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Анализ аномалий и расчет вероятности пожара.</a:t>
            </a:r>
          </a:p>
          <a:p>
            <a:r>
              <a:rPr lang="ru-RU" sz="1400" b="1" dirty="0">
                <a:solidFill>
                  <a:schemeClr val="tx1"/>
                </a:solidFill>
              </a:rPr>
              <a:t>Триггер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Если риск превышает порог, система подсвечивает аномалию.</a:t>
            </a:r>
          </a:p>
          <a:p>
            <a:pPr>
              <a:defRPr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2" name="Заголовок 27">
            <a:extLst>
              <a:ext uri="{FF2B5EF4-FFF2-40B4-BE49-F238E27FC236}">
                <a16:creationId xmlns:a16="http://schemas.microsoft.com/office/drawing/2014/main" id="{80A0F718-D844-2AE5-7488-B0D555F22EDC}"/>
              </a:ext>
            </a:extLst>
          </p:cNvPr>
          <p:cNvSpPr txBox="1">
            <a:spLocks/>
          </p:cNvSpPr>
          <p:nvPr/>
        </p:nvSpPr>
        <p:spPr bwMode="auto">
          <a:xfrm>
            <a:off x="527444" y="395288"/>
            <a:ext cx="5574868" cy="53758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/>
              </a:defRPr>
            </a:lvl1pPr>
          </a:lstStyle>
          <a:p>
            <a:pPr>
              <a:defRPr/>
            </a:pPr>
            <a:r>
              <a:rPr lang="en-US" dirty="0">
                <a:solidFill>
                  <a:schemeClr val="accent5"/>
                </a:solidFill>
              </a:rPr>
              <a:t>Fire Forecast</a:t>
            </a:r>
            <a:br>
              <a:rPr lang="ru-RU" dirty="0">
                <a:solidFill>
                  <a:schemeClr val="accent5"/>
                </a:solidFill>
              </a:rPr>
            </a:br>
            <a:r>
              <a:rPr lang="ru-RU" sz="1200" dirty="0">
                <a:solidFill>
                  <a:schemeClr val="accent5"/>
                </a:solidFill>
              </a:rPr>
              <a:t>Система предиктивной аналитики и прогнозирования пожаров</a:t>
            </a:r>
          </a:p>
        </p:txBody>
      </p:sp>
    </p:spTree>
    <p:extLst>
      <p:ext uri="{BB962C8B-B14F-4D97-AF65-F5344CB8AC3E}">
        <p14:creationId xmlns:p14="http://schemas.microsoft.com/office/powerpoint/2010/main" val="3983014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932521" name="Скругленный прямоугольник 3"/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36233606" name="Объект 2"/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31184773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17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00724898" name="Заголовок 1"/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6264860" cy="552061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</a:rPr>
              <a:t>Диспетчер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2CA159-DAE2-F526-4229-801DEF351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" y="1093928"/>
            <a:ext cx="12083845" cy="55760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4523CA-C320-3626-1D5F-FCF06F1B4EC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932521" name="Скругленный прямоугольник 3">
            <a:extLst>
              <a:ext uri="{FF2B5EF4-FFF2-40B4-BE49-F238E27FC236}">
                <a16:creationId xmlns:a16="http://schemas.microsoft.com/office/drawing/2014/main" id="{404FC720-9DBC-26B5-D75E-6A68D53F4A30}"/>
              </a:ext>
            </a:extLst>
          </p:cNvPr>
          <p:cNvSpPr/>
          <p:nvPr/>
        </p:nvSpPr>
        <p:spPr bwMode="auto"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36233606" name="Объект 2">
            <a:extLst>
              <a:ext uri="{FF2B5EF4-FFF2-40B4-BE49-F238E27FC236}">
                <a16:creationId xmlns:a16="http://schemas.microsoft.com/office/drawing/2014/main" id="{B972BAF7-89A8-6DC2-925F-4DA6259234E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623888" y="1556279"/>
            <a:ext cx="10789619" cy="3745441"/>
          </a:xfrm>
        </p:spPr>
        <p:txBody>
          <a:bodyPr/>
          <a:lstStyle/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31184773" name="Номер слайда 20">
            <a:extLst>
              <a:ext uri="{FF2B5EF4-FFF2-40B4-BE49-F238E27FC236}">
                <a16:creationId xmlns:a16="http://schemas.microsoft.com/office/drawing/2014/main" id="{B11BEE96-59F3-3EEF-E774-1428D7D74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18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400724898" name="Заголовок 1">
            <a:extLst>
              <a:ext uri="{FF2B5EF4-FFF2-40B4-BE49-F238E27FC236}">
                <a16:creationId xmlns:a16="http://schemas.microsoft.com/office/drawing/2014/main" id="{39BD0318-5871-7587-AB24-17674A6DC9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3104" y="414049"/>
            <a:ext cx="6264860" cy="552061"/>
          </a:xfrm>
        </p:spPr>
        <p:txBody>
          <a:bodyPr/>
          <a:lstStyle/>
          <a:p>
            <a:pPr>
              <a:defRPr/>
            </a:pPr>
            <a:r>
              <a:rPr lang="ru-RU" sz="3600" dirty="0">
                <a:solidFill>
                  <a:schemeClr val="bg1"/>
                </a:solidFill>
              </a:rPr>
              <a:t>Администратор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FD37AF-9043-4ADC-C947-041093848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" y="1094421"/>
            <a:ext cx="12123174" cy="562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0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890744" name="Скругленный прямоугольник 9"/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1581857" name="Скругленный прямоугольник 22"/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3518641" name="Скругленный прямоугольник 23"/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7093719" name="Скругленный прямоугольник 24"/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10932147" name="Скругленный прямоугольник 26"/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1875582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85213363" name="Текст 1"/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Пилот</a:t>
            </a:r>
          </a:p>
        </p:txBody>
      </p:sp>
      <p:sp>
        <p:nvSpPr>
          <p:cNvPr id="377828890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Тестирование на исторических данных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Тестирование модели на реальных данных на одном участке</a:t>
            </a:r>
          </a:p>
        </p:txBody>
      </p:sp>
      <p:sp>
        <p:nvSpPr>
          <p:cNvPr id="725117426" name="Текст 3"/>
          <p:cNvSpPr>
            <a:spLocks noGrp="1"/>
          </p:cNvSpPr>
          <p:nvPr>
            <p:ph type="body" sz="quarter" idx="39"/>
          </p:nvPr>
        </p:nvSpPr>
        <p:spPr bwMode="auto">
          <a:xfrm>
            <a:off x="3361038" y="2373557"/>
            <a:ext cx="2520778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Дообучение модели</a:t>
            </a:r>
          </a:p>
        </p:txBody>
      </p:sp>
      <p:sp>
        <p:nvSpPr>
          <p:cNvPr id="1692111878" name="Текст 4"/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Калибровка нейросети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Снижение ложных срабатываний</a:t>
            </a:r>
          </a:p>
        </p:txBody>
      </p:sp>
      <p:sp>
        <p:nvSpPr>
          <p:cNvPr id="1856870292" name="Текст 5"/>
          <p:cNvSpPr>
            <a:spLocks noGrp="1"/>
          </p:cNvSpPr>
          <p:nvPr>
            <p:ph type="body" sz="quarter" idx="41"/>
          </p:nvPr>
        </p:nvSpPr>
        <p:spPr bwMode="auto">
          <a:xfrm>
            <a:off x="6400799" y="2379657"/>
            <a:ext cx="2342573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Масштабирование</a:t>
            </a:r>
          </a:p>
        </p:txBody>
      </p:sp>
      <p:sp>
        <p:nvSpPr>
          <p:cNvPr id="1517586564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382327" y="3136604"/>
            <a:ext cx="2342573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Подключение всех районов к единому центр мониторинга</a:t>
            </a:r>
          </a:p>
        </p:txBody>
      </p:sp>
      <p:sp>
        <p:nvSpPr>
          <p:cNvPr id="2056114012" name="Текст 7"/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51484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Автономность (перспектива)</a:t>
            </a:r>
          </a:p>
        </p:txBody>
      </p:sp>
      <p:sp>
        <p:nvSpPr>
          <p:cNvPr id="1023314998" name="Текст 8"/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Автоматическое управление вентиляцией и системой пожаротушения при критических рисках.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433808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Внедрение</a:t>
            </a:r>
          </a:p>
        </p:txBody>
      </p:sp>
      <p:sp>
        <p:nvSpPr>
          <p:cNvPr id="1098173699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381878845" name="Текст 15"/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313329095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3101552" name="Текст 17"/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A4DC4F1-76FB-D0A1-F808-CD2E0807DFF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890744" name="Скругленный прямоугольник 9">
            <a:extLst>
              <a:ext uri="{FF2B5EF4-FFF2-40B4-BE49-F238E27FC236}">
                <a16:creationId xmlns:a16="http://schemas.microsoft.com/office/drawing/2014/main" id="{A7DB043A-B4AF-E71F-3B83-90B05E954120}"/>
              </a:ext>
            </a:extLst>
          </p:cNvPr>
          <p:cNvSpPr/>
          <p:nvPr/>
        </p:nvSpPr>
        <p:spPr bwMode="auto"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21581857" name="Скругленный прямоугольник 22">
            <a:extLst>
              <a:ext uri="{FF2B5EF4-FFF2-40B4-BE49-F238E27FC236}">
                <a16:creationId xmlns:a16="http://schemas.microsoft.com/office/drawing/2014/main" id="{EEECDD2A-5518-7666-CC31-BE7DBDA128D5}"/>
              </a:ext>
            </a:extLst>
          </p:cNvPr>
          <p:cNvSpPr/>
          <p:nvPr/>
        </p:nvSpPr>
        <p:spPr bwMode="auto"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83518641" name="Скругленный прямоугольник 23">
            <a:extLst>
              <a:ext uri="{FF2B5EF4-FFF2-40B4-BE49-F238E27FC236}">
                <a16:creationId xmlns:a16="http://schemas.microsoft.com/office/drawing/2014/main" id="{8460C862-7A9C-1060-919E-D2BFD0A8BFA7}"/>
              </a:ext>
            </a:extLst>
          </p:cNvPr>
          <p:cNvSpPr/>
          <p:nvPr/>
        </p:nvSpPr>
        <p:spPr bwMode="auto"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057093719" name="Скругленный прямоугольник 24">
            <a:extLst>
              <a:ext uri="{FF2B5EF4-FFF2-40B4-BE49-F238E27FC236}">
                <a16:creationId xmlns:a16="http://schemas.microsoft.com/office/drawing/2014/main" id="{EC5C3015-4230-3BC4-D88B-42077470BEB4}"/>
              </a:ext>
            </a:extLst>
          </p:cNvPr>
          <p:cNvSpPr/>
          <p:nvPr/>
        </p:nvSpPr>
        <p:spPr bwMode="auto"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510932147" name="Скругленный прямоугольник 26">
            <a:extLst>
              <a:ext uri="{FF2B5EF4-FFF2-40B4-BE49-F238E27FC236}">
                <a16:creationId xmlns:a16="http://schemas.microsoft.com/office/drawing/2014/main" id="{420762A9-956F-4F90-D764-1C510B7385EC}"/>
              </a:ext>
            </a:extLst>
          </p:cNvPr>
          <p:cNvSpPr/>
          <p:nvPr/>
        </p:nvSpPr>
        <p:spPr bwMode="auto"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1875582" name="Номер слайда 20">
            <a:extLst>
              <a:ext uri="{FF2B5EF4-FFF2-40B4-BE49-F238E27FC236}">
                <a16:creationId xmlns:a16="http://schemas.microsoft.com/office/drawing/2014/main" id="{A2CA1481-D516-2848-14BE-56AE50801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20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985213363" name="Текст 1">
            <a:extLst>
              <a:ext uri="{FF2B5EF4-FFF2-40B4-BE49-F238E27FC236}">
                <a16:creationId xmlns:a16="http://schemas.microsoft.com/office/drawing/2014/main" id="{A8FD939B-B7F7-408F-4C51-CC6FDF669E1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auto">
          <a:xfrm>
            <a:off x="520913" y="2339783"/>
            <a:ext cx="2284071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Интеграции</a:t>
            </a:r>
          </a:p>
        </p:txBody>
      </p:sp>
      <p:sp>
        <p:nvSpPr>
          <p:cNvPr id="377828890" name="Текст 2">
            <a:extLst>
              <a:ext uri="{FF2B5EF4-FFF2-40B4-BE49-F238E27FC236}">
                <a16:creationId xmlns:a16="http://schemas.microsoft.com/office/drawing/2014/main" id="{78954C36-64CB-91DB-4AAA-C8B222B30D1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auto">
          <a:xfrm>
            <a:off x="520913" y="3128740"/>
            <a:ext cx="2284071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Система пожаротушения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Система вентиляции</a:t>
            </a:r>
          </a:p>
        </p:txBody>
      </p:sp>
      <p:sp>
        <p:nvSpPr>
          <p:cNvPr id="725117426" name="Текст 3">
            <a:extLst>
              <a:ext uri="{FF2B5EF4-FFF2-40B4-BE49-F238E27FC236}">
                <a16:creationId xmlns:a16="http://schemas.microsoft.com/office/drawing/2014/main" id="{C97305C8-2223-12D0-EDA1-2B722ED72C5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auto">
          <a:xfrm>
            <a:off x="3457903" y="2373557"/>
            <a:ext cx="2337416" cy="403756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Мобильное приложение</a:t>
            </a:r>
          </a:p>
        </p:txBody>
      </p:sp>
      <p:sp>
        <p:nvSpPr>
          <p:cNvPr id="1692111878" name="Текст 4">
            <a:extLst>
              <a:ext uri="{FF2B5EF4-FFF2-40B4-BE49-F238E27FC236}">
                <a16:creationId xmlns:a16="http://schemas.microsoft.com/office/drawing/2014/main" id="{1E665D4C-6C09-A185-05B9-6FE67961F97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auto">
          <a:xfrm>
            <a:off x="3457903" y="3134070"/>
            <a:ext cx="2337416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Для мобильных групп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Для ремонтных бригад</a:t>
            </a:r>
          </a:p>
        </p:txBody>
      </p:sp>
      <p:sp>
        <p:nvSpPr>
          <p:cNvPr id="1856870292" name="Текст 5">
            <a:extLst>
              <a:ext uri="{FF2B5EF4-FFF2-40B4-BE49-F238E27FC236}">
                <a16:creationId xmlns:a16="http://schemas.microsoft.com/office/drawing/2014/main" id="{26931927-A259-9DD5-F804-E65517F53C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auto">
          <a:xfrm>
            <a:off x="6400799" y="2379657"/>
            <a:ext cx="2342573" cy="403913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Прогноз замены оборудования</a:t>
            </a:r>
          </a:p>
        </p:txBody>
      </p:sp>
      <p:sp>
        <p:nvSpPr>
          <p:cNvPr id="1517586564" name="Текст 6">
            <a:extLst>
              <a:ext uri="{FF2B5EF4-FFF2-40B4-BE49-F238E27FC236}">
                <a16:creationId xmlns:a16="http://schemas.microsoft.com/office/drawing/2014/main" id="{C5E3036E-B4F3-0EB9-34DB-ADB34308E6B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auto">
          <a:xfrm>
            <a:off x="6456363" y="3136604"/>
            <a:ext cx="2268537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На основе реальной эксплуатации</a:t>
            </a:r>
          </a:p>
        </p:txBody>
      </p:sp>
      <p:sp>
        <p:nvSpPr>
          <p:cNvPr id="2056114012" name="Текст 7">
            <a:extLst>
              <a:ext uri="{FF2B5EF4-FFF2-40B4-BE49-F238E27FC236}">
                <a16:creationId xmlns:a16="http://schemas.microsoft.com/office/drawing/2014/main" id="{DC1752A9-52FE-04CF-44C6-8AEA022D23D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auto">
          <a:xfrm>
            <a:off x="9407534" y="2339783"/>
            <a:ext cx="2263553" cy="4236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rgbClr val="F92571"/>
                </a:solidFill>
              </a:rPr>
              <a:t>Автономность</a:t>
            </a:r>
          </a:p>
        </p:txBody>
      </p:sp>
      <p:sp>
        <p:nvSpPr>
          <p:cNvPr id="1023314998" name="Текст 8">
            <a:extLst>
              <a:ext uri="{FF2B5EF4-FFF2-40B4-BE49-F238E27FC236}">
                <a16:creationId xmlns:a16="http://schemas.microsoft.com/office/drawing/2014/main" id="{C790CA02-D5CD-6ACD-9E3E-58C1876FCA3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auto">
          <a:xfrm>
            <a:off x="9407534" y="3128739"/>
            <a:ext cx="2263553" cy="2797928"/>
          </a:xfrm>
        </p:spPr>
        <p:txBody>
          <a:bodyPr/>
          <a:lstStyle/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Человек нужен для принятия итогового решения</a:t>
            </a:r>
          </a:p>
          <a:p>
            <a:pPr>
              <a:defRPr/>
            </a:pPr>
            <a:r>
              <a:rPr lang="ru-RU" dirty="0">
                <a:solidFill>
                  <a:schemeClr val="tx1"/>
                </a:solidFill>
              </a:rPr>
              <a:t>Человек нужен для обслуживания и корректировки работающих моделей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43380853" name="Заголовок 13">
            <a:extLst>
              <a:ext uri="{FF2B5EF4-FFF2-40B4-BE49-F238E27FC236}">
                <a16:creationId xmlns:a16="http://schemas.microsoft.com/office/drawing/2014/main" id="{3287B878-D0AF-B5C4-5A4A-81549D4F91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25817" y="421226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 dirty="0"/>
              <a:t>Планы развития</a:t>
            </a:r>
          </a:p>
        </p:txBody>
      </p:sp>
      <p:sp>
        <p:nvSpPr>
          <p:cNvPr id="1098173699" name="Текст 14">
            <a:extLst>
              <a:ext uri="{FF2B5EF4-FFF2-40B4-BE49-F238E27FC236}">
                <a16:creationId xmlns:a16="http://schemas.microsoft.com/office/drawing/2014/main" id="{EE013836-D2BE-D950-BA13-29FC9B56267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auto">
          <a:xfrm>
            <a:off x="520913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381878845" name="Текст 15">
            <a:extLst>
              <a:ext uri="{FF2B5EF4-FFF2-40B4-BE49-F238E27FC236}">
                <a16:creationId xmlns:a16="http://schemas.microsoft.com/office/drawing/2014/main" id="{41828559-90C0-3147-8747-4E7DCE45B70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 bwMode="auto">
          <a:xfrm>
            <a:off x="3449944" y="1766200"/>
            <a:ext cx="771003" cy="403756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313329095" name="Текст 16">
            <a:extLst>
              <a:ext uri="{FF2B5EF4-FFF2-40B4-BE49-F238E27FC236}">
                <a16:creationId xmlns:a16="http://schemas.microsoft.com/office/drawing/2014/main" id="{7F98D7EB-3401-5980-9DEC-53F916A8F8F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auto">
          <a:xfrm>
            <a:off x="6456363" y="1766043"/>
            <a:ext cx="771003" cy="403913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903101552" name="Текст 17">
            <a:extLst>
              <a:ext uri="{FF2B5EF4-FFF2-40B4-BE49-F238E27FC236}">
                <a16:creationId xmlns:a16="http://schemas.microsoft.com/office/drawing/2014/main" id="{17D626CE-84CF-AD9F-9E5C-79384A444D3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 bwMode="auto">
          <a:xfrm>
            <a:off x="9407534" y="1772415"/>
            <a:ext cx="771003" cy="423628"/>
          </a:xfrm>
        </p:spPr>
        <p:txBody>
          <a:bodyPr/>
          <a:lstStyle/>
          <a:p>
            <a:pPr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499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36469" name="Скругленный прямоугольник 8"/>
          <p:cNvSpPr/>
          <p:nvPr/>
        </p:nvSpPr>
        <p:spPr bwMode="auto"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46509788" name="Номер слайда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21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860233596" name="Заголовок 2"/>
          <p:cNvSpPr>
            <a:spLocks noGrp="1"/>
          </p:cNvSpPr>
          <p:nvPr>
            <p:ph type="title"/>
          </p:nvPr>
        </p:nvSpPr>
        <p:spPr bwMode="auto">
          <a:xfrm>
            <a:off x="622040" y="496888"/>
            <a:ext cx="4781233" cy="415925"/>
          </a:xfrm>
        </p:spPr>
        <p:txBody>
          <a:bodyPr/>
          <a:lstStyle/>
          <a:p>
            <a:pPr>
              <a:defRPr/>
            </a:pPr>
            <a:r>
              <a:rPr lang="ru-RU" sz="2000" dirty="0">
                <a:solidFill>
                  <a:schemeClr val="accent5"/>
                </a:solidFill>
              </a:rPr>
              <a:t>Заключение</a:t>
            </a:r>
          </a:p>
        </p:txBody>
      </p:sp>
      <p:sp>
        <p:nvSpPr>
          <p:cNvPr id="265925733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595433" y="1143695"/>
            <a:ext cx="4807840" cy="4717356"/>
          </a:xfrm>
        </p:spPr>
        <p:txBody>
          <a:bodyPr/>
          <a:lstStyle/>
          <a:p>
            <a:pPr lvl="0"/>
            <a:r>
              <a:rPr lang="ru-RU" dirty="0">
                <a:solidFill>
                  <a:schemeClr val="tx1"/>
                </a:solidFill>
              </a:rPr>
              <a:t>Задача очень интересная.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Задача крайне важная.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Не менее интересно было ее решить и сделать так, чтобы задача была решена и приносила пользу!</a:t>
            </a:r>
          </a:p>
          <a:p>
            <a:pPr lvl="0"/>
            <a:r>
              <a:rPr lang="ru-RU" dirty="0">
                <a:solidFill>
                  <a:schemeClr val="tx1"/>
                </a:solidFill>
              </a:rPr>
              <a:t>Очень надеемся, что проделанная работа будет полезна Заказчику!</a:t>
            </a:r>
          </a:p>
          <a:p>
            <a:pPr>
              <a:defRPr/>
            </a:pP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FBFD95-24E3-60F5-EE24-701868B9F3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4613" y="4640826"/>
            <a:ext cx="1645979" cy="16459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978</TotalTime>
  <Words>1495</Words>
  <Application>Microsoft Office PowerPoint</Application>
  <PresentationFormat>Широкоэкранный</PresentationFormat>
  <Paragraphs>262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Montserrat</vt:lpstr>
      <vt:lpstr>Wingdings</vt:lpstr>
      <vt:lpstr>Для Академия инноваторов 16_9</vt:lpstr>
      <vt:lpstr>Zero Error</vt:lpstr>
      <vt:lpstr>План презентации</vt:lpstr>
      <vt:lpstr>Zero Error</vt:lpstr>
      <vt:lpstr>Zero Error</vt:lpstr>
      <vt:lpstr>Zero Error</vt:lpstr>
      <vt:lpstr>КОРОТКО О РЕШЕНИИ</vt:lpstr>
      <vt:lpstr>Почему это важно?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ТЕХНИЧЕСКОЕ РЕШЕНИЕ</vt:lpstr>
      <vt:lpstr>Анализ данных</vt:lpstr>
      <vt:lpstr>Построение модели</vt:lpstr>
      <vt:lpstr>Презентация PowerPoint</vt:lpstr>
      <vt:lpstr>Диспетчер</vt:lpstr>
      <vt:lpstr>Администратор</vt:lpstr>
      <vt:lpstr>Внедрение</vt:lpstr>
      <vt:lpstr>Планы развития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Sergey Kolot</cp:lastModifiedBy>
  <cp:revision>166</cp:revision>
  <dcterms:created xsi:type="dcterms:W3CDTF">2023-05-15T07:36:23Z</dcterms:created>
  <dcterms:modified xsi:type="dcterms:W3CDTF">2026-09-25T12:58:06Z</dcterms:modified>
</cp:coreProperties>
</file>